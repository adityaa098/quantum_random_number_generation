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4" r:id="rId1"/>
  </p:sldMasterIdLst>
  <p:notesMasterIdLst>
    <p:notesMasterId r:id="rId20"/>
  </p:notesMasterIdLst>
  <p:sldIdLst>
    <p:sldId id="276" r:id="rId2"/>
    <p:sldId id="257" r:id="rId3"/>
    <p:sldId id="258" r:id="rId4"/>
    <p:sldId id="259" r:id="rId5"/>
    <p:sldId id="260" r:id="rId6"/>
    <p:sldId id="261" r:id="rId7"/>
    <p:sldId id="277" r:id="rId8"/>
    <p:sldId id="262" r:id="rId9"/>
    <p:sldId id="263" r:id="rId10"/>
    <p:sldId id="278" r:id="rId11"/>
    <p:sldId id="264" r:id="rId12"/>
    <p:sldId id="279" r:id="rId13"/>
    <p:sldId id="265" r:id="rId14"/>
    <p:sldId id="266" r:id="rId15"/>
    <p:sldId id="280" r:id="rId16"/>
    <p:sldId id="267" r:id="rId17"/>
    <p:sldId id="269" r:id="rId18"/>
    <p:sldId id="281" r:id="rId19"/>
  </p:sldIdLst>
  <p:sldSz cx="9144000" cy="5143500" type="screen16x9"/>
  <p:notesSz cx="51435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41" autoAdjust="0"/>
    <p:restoredTop sz="94610"/>
  </p:normalViewPr>
  <p:slideViewPr>
    <p:cSldViewPr snapToGrid="0" snapToObjects="1">
      <p:cViewPr varScale="1">
        <p:scale>
          <a:sx n="109" d="100"/>
          <a:sy n="109" d="100"/>
        </p:scale>
        <p:origin x="792"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208759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65699-0623-DF54-B7FC-671A9313BA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21B9B6-EDD1-C6E6-B38E-9F2F7F6B06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4DE5A8-F9C7-54D8-019C-B2FCA88D44F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719E7B-2166-D2D7-89B3-6736F62145D8}"/>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24711835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6CBF8B-C8AE-BFCD-A734-C9671FDBF6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441C8D8-15B7-7E3B-CCFB-893EF3A011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E794B-EA45-1ABE-CC6D-A47CB1B72A1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15A7BA8-8B0C-9EA2-989E-449DC944BB1E}"/>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33725090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2CDD45-B745-0B43-0BA1-7A9E963477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947891-4664-FE3A-81BB-FBCB0A47A8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04D3DA-0E89-4958-C3FD-6E1B7EDD28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B5D58D-6F87-340E-88A5-B50B86F3F997}"/>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5532169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FF6DED-8C58-B669-0D52-3AB7B72CF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1EBEE9-A0A1-B6D5-425B-70E293CD89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D4F063-0C2D-D37F-79F3-4A5C468192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8509FF-E936-83CF-316C-D8B958B06675}"/>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401061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95243CB-1565-4AC8-BDCB-F5C75189806D}" type="datetime1">
              <a:rPr lang="en-IN" smtClean="0"/>
              <a:t>22-01-2026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93C3A13-1AF7-4133-9DD0-E673BF3672EC}" type="slidenum">
              <a:rPr lang="en-IN" smtClean="0"/>
              <a:pPr/>
              <a:t>‹#›</a:t>
            </a:fld>
            <a:endParaRPr lang="en-IN" dirty="0"/>
          </a:p>
        </p:txBody>
      </p:sp>
    </p:spTree>
    <p:extLst>
      <p:ext uri="{BB962C8B-B14F-4D97-AF65-F5344CB8AC3E}">
        <p14:creationId xmlns:p14="http://schemas.microsoft.com/office/powerpoint/2010/main" val="32654242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238869799"/>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14900593"/>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011121745"/>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273844"/>
            <a:ext cx="7886700" cy="994172"/>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53732329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19589625"/>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4043959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64655549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740569"/>
            <a:ext cx="4629150" cy="365521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4294087768"/>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1821616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273844"/>
            <a:ext cx="1971675" cy="435887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1033446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11244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smtClean="0"/>
              <a:t>1/22/2026</a:t>
            </a:fld>
            <a:endParaRPr lang="en-US" dirty="0"/>
          </a:p>
        </p:txBody>
      </p:sp>
      <p:sp>
        <p:nvSpPr>
          <p:cNvPr id="5" name="Footer Placeholder 4"/>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3056951615"/>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 id="2147483674" r:id="rId10"/>
    <p:sldLayoutId id="2147483675" r:id="rId11"/>
    <p:sldLayoutId id="2147483676"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B95F95EC-4C15-FC3A-0967-D6DCF536EF34}"/>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4C893EB-6266-DF21-ADE9-C441E4DB6E5E}"/>
              </a:ext>
            </a:extLst>
          </p:cNvPr>
          <p:cNvSpPr txBox="1"/>
          <p:nvPr/>
        </p:nvSpPr>
        <p:spPr>
          <a:xfrm>
            <a:off x="372794" y="992500"/>
            <a:ext cx="8651631" cy="1200329"/>
          </a:xfrm>
          <a:prstGeom prst="rect">
            <a:avLst/>
          </a:prstGeom>
          <a:noFill/>
        </p:spPr>
        <p:txBody>
          <a:bodyPr wrap="square">
            <a:spAutoFit/>
          </a:bodyPr>
          <a:lstStyle/>
          <a:p>
            <a:pPr algn="just"/>
            <a:r>
              <a:rPr lang="en-US" b="0" i="0" dirty="0">
                <a:effectLst/>
                <a:latin typeface="Georgia" panose="02040502050405020303" pitchFamily="18" charset="0"/>
              </a:rPr>
              <a:t>Pennylane is an open-source, cross-platform Python library designed for quantum computing, quantum machine learning, and quantum chemistry research. Its core purpose is to help users create, simulate, and optimize quantum circuits, making quantum programming accessible and flexible.</a:t>
            </a:r>
            <a:endParaRPr lang="en-US" dirty="0">
              <a:latin typeface="Georgia" panose="02040502050405020303" pitchFamily="18" charset="0"/>
            </a:endParaRPr>
          </a:p>
        </p:txBody>
      </p:sp>
      <p:sp>
        <p:nvSpPr>
          <p:cNvPr id="9" name="TextBox 8">
            <a:extLst>
              <a:ext uri="{FF2B5EF4-FFF2-40B4-BE49-F238E27FC236}">
                <a16:creationId xmlns:a16="http://schemas.microsoft.com/office/drawing/2014/main" id="{95427C0A-4CE3-9C44-2780-BA4B931F3534}"/>
              </a:ext>
            </a:extLst>
          </p:cNvPr>
          <p:cNvSpPr txBox="1"/>
          <p:nvPr/>
        </p:nvSpPr>
        <p:spPr>
          <a:xfrm>
            <a:off x="2286000" y="256937"/>
            <a:ext cx="4572000" cy="598177"/>
          </a:xfrm>
          <a:prstGeom prst="rect">
            <a:avLst/>
          </a:prstGeom>
          <a:noFill/>
        </p:spPr>
        <p:txBody>
          <a:bodyPr wrap="square">
            <a:spAutoFit/>
          </a:bodyPr>
          <a:lstStyle/>
          <a:p>
            <a:pPr marL="0" indent="0" algn="ctr">
              <a:lnSpc>
                <a:spcPts val="4320"/>
              </a:lnSpc>
              <a:buNone/>
            </a:pPr>
            <a:r>
              <a:rPr lang="en-US" sz="2800" b="1" dirty="0">
                <a:solidFill>
                  <a:srgbClr val="38BDF8"/>
                </a:solidFill>
                <a:latin typeface="Georgia" pitchFamily="34" charset="0"/>
                <a:ea typeface="Georgia" pitchFamily="34" charset="-122"/>
                <a:cs typeface="Georgia" pitchFamily="34" charset="-120"/>
              </a:rPr>
              <a:t>About Pennylane</a:t>
            </a:r>
            <a:endParaRPr lang="en-US" sz="2800" dirty="0"/>
          </a:p>
        </p:txBody>
      </p:sp>
      <p:sp>
        <p:nvSpPr>
          <p:cNvPr id="11" name="TextBox 10">
            <a:extLst>
              <a:ext uri="{FF2B5EF4-FFF2-40B4-BE49-F238E27FC236}">
                <a16:creationId xmlns:a16="http://schemas.microsoft.com/office/drawing/2014/main" id="{A941644B-434F-9060-60B9-D420CACB2BB7}"/>
              </a:ext>
            </a:extLst>
          </p:cNvPr>
          <p:cNvSpPr txBox="1"/>
          <p:nvPr/>
        </p:nvSpPr>
        <p:spPr>
          <a:xfrm>
            <a:off x="372794" y="2192829"/>
            <a:ext cx="8820443" cy="2646878"/>
          </a:xfrm>
          <a:prstGeom prst="rect">
            <a:avLst/>
          </a:prstGeom>
          <a:noFill/>
        </p:spPr>
        <p:txBody>
          <a:bodyPr wrap="square">
            <a:spAutoFit/>
          </a:bodyPr>
          <a:lstStyle/>
          <a:p>
            <a:pPr algn="just">
              <a:buNone/>
            </a:pPr>
            <a:r>
              <a:rPr lang="en-US" sz="1600" b="0" i="0" dirty="0">
                <a:effectLst/>
                <a:latin typeface="Georgia" panose="02040502050405020303" pitchFamily="18" charset="0"/>
              </a:rPr>
              <a:t>Key Features:</a:t>
            </a:r>
          </a:p>
          <a:p>
            <a:pPr algn="just">
              <a:buFont typeface="Arial" panose="020B0604020202020204" pitchFamily="34" charset="0"/>
              <a:buChar char="•"/>
            </a:pPr>
            <a:r>
              <a:rPr lang="en-US" sz="1600" b="0" i="0" dirty="0">
                <a:effectLst/>
                <a:latin typeface="Georgia" panose="02040502050405020303" pitchFamily="18" charset="0"/>
              </a:rPr>
              <a:t>Quantum Circuit Construction: Pennylane lets you easily build quantum circuits using simple Python functions. </a:t>
            </a:r>
          </a:p>
          <a:p>
            <a:pPr algn="just">
              <a:buFont typeface="Arial" panose="020B0604020202020204" pitchFamily="34" charset="0"/>
              <a:buChar char="•"/>
            </a:pPr>
            <a:r>
              <a:rPr lang="en-US" sz="1600" b="0" i="0" dirty="0">
                <a:effectLst/>
                <a:latin typeface="Georgia" panose="02040502050405020303" pitchFamily="18" charset="0"/>
              </a:rPr>
              <a:t>Hybrid Quantum-Classical Workflows: It integrates seamlessly with machine learning frameworks like </a:t>
            </a:r>
            <a:r>
              <a:rPr lang="en-US" sz="1600" b="0" i="0" dirty="0" err="1">
                <a:effectLst/>
                <a:latin typeface="Georgia" panose="02040502050405020303" pitchFamily="18" charset="0"/>
              </a:rPr>
              <a:t>PyTorch</a:t>
            </a:r>
            <a:r>
              <a:rPr lang="en-US" sz="1600" b="0" i="0" dirty="0">
                <a:effectLst/>
                <a:latin typeface="Georgia" panose="02040502050405020303" pitchFamily="18" charset="0"/>
              </a:rPr>
              <a:t>, TensorFlow, and JAX. </a:t>
            </a:r>
          </a:p>
          <a:p>
            <a:pPr algn="just">
              <a:buFont typeface="Arial" panose="020B0604020202020204" pitchFamily="34" charset="0"/>
              <a:buChar char="•"/>
            </a:pPr>
            <a:r>
              <a:rPr lang="en-US" sz="1600" b="0" i="0" dirty="0">
                <a:effectLst/>
                <a:latin typeface="Georgia" panose="02040502050405020303" pitchFamily="18" charset="0"/>
              </a:rPr>
              <a:t>Automatic Differentiation: You can calculate gradients of quantum circuits, a powerful mechanism for training quantum models using techniques like backpropagation.​</a:t>
            </a:r>
          </a:p>
          <a:p>
            <a:pPr algn="just">
              <a:buFont typeface="Arial" panose="020B0604020202020204" pitchFamily="34" charset="0"/>
              <a:buChar char="•"/>
            </a:pPr>
            <a:r>
              <a:rPr lang="en-US" sz="1600" b="0" i="0" dirty="0">
                <a:effectLst/>
                <a:latin typeface="Georgia" panose="02040502050405020303" pitchFamily="18" charset="0"/>
              </a:rPr>
              <a:t>Device Independence: Through a plugin system, Pennylane supports simulators (including local, cloud, or GPU-backed) and various real quantum devices from different vendors, creating portability and reproducibility.</a:t>
            </a:r>
          </a:p>
        </p:txBody>
      </p:sp>
    </p:spTree>
    <p:extLst>
      <p:ext uri="{BB962C8B-B14F-4D97-AF65-F5344CB8AC3E}">
        <p14:creationId xmlns:p14="http://schemas.microsoft.com/office/powerpoint/2010/main" val="1418309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Project Overview</a:t>
            </a:r>
            <a:endParaRPr lang="en-US" sz="2700" dirty="0"/>
          </a:p>
        </p:txBody>
      </p:sp>
      <p:sp>
        <p:nvSpPr>
          <p:cNvPr id="3" name="Text 1"/>
          <p:cNvSpPr/>
          <p:nvPr/>
        </p:nvSpPr>
        <p:spPr>
          <a:xfrm>
            <a:off x="609600" y="1249679"/>
            <a:ext cx="8321040" cy="2105465"/>
          </a:xfrm>
          <a:prstGeom prst="rect">
            <a:avLst/>
          </a:prstGeom>
          <a:noFill/>
          <a:ln/>
        </p:spPr>
        <p:txBody>
          <a:bodyPr wrap="square" lIns="0" tIns="0" rIns="0" bIns="0" rtlCol="0" anchor="t"/>
          <a:lstStyle/>
          <a:p>
            <a:pPr marL="342900" indent="-342900" algn="just">
              <a:lnSpc>
                <a:spcPts val="3240"/>
              </a:lnSpc>
              <a:buSzPct val="100000"/>
              <a:buChar char="•"/>
            </a:pPr>
            <a:r>
              <a:rPr lang="en-US" dirty="0">
                <a:latin typeface="Georgia" panose="02040502050405020303" pitchFamily="18" charset="0"/>
                <a:ea typeface="Verdana" pitchFamily="34" charset="-122"/>
                <a:cs typeface="Verdana" pitchFamily="34" charset="-120"/>
              </a:rPr>
              <a:t>Generate random bits via qubit measurement in superposition using </a:t>
            </a:r>
            <a:r>
              <a:rPr lang="en-US" dirty="0" err="1">
                <a:latin typeface="Georgia" panose="02040502050405020303" pitchFamily="18" charset="0"/>
                <a:ea typeface="Verdana" pitchFamily="34" charset="-122"/>
                <a:cs typeface="Verdana" pitchFamily="34" charset="-120"/>
              </a:rPr>
              <a:t>pennylane</a:t>
            </a:r>
            <a:r>
              <a:rPr lang="en-US" dirty="0">
                <a:latin typeface="Georgia" panose="02040502050405020303" pitchFamily="18" charset="0"/>
                <a:ea typeface="Verdana" pitchFamily="34" charset="-122"/>
                <a:cs typeface="Verdana" pitchFamily="34" charset="-120"/>
              </a:rPr>
              <a:t>.</a:t>
            </a:r>
            <a:endParaRPr lang="en-US" dirty="0">
              <a:latin typeface="Georgia" panose="02040502050405020303" pitchFamily="18" charset="0"/>
            </a:endParaRPr>
          </a:p>
          <a:p>
            <a:pPr marL="342900" indent="-342900" algn="just">
              <a:lnSpc>
                <a:spcPts val="3240"/>
              </a:lnSpc>
              <a:buSzPct val="100000"/>
              <a:buChar char="•"/>
            </a:pPr>
            <a:r>
              <a:rPr lang="en-US" dirty="0">
                <a:latin typeface="Georgia" panose="02040502050405020303" pitchFamily="18" charset="0"/>
                <a:ea typeface="Verdana" pitchFamily="34" charset="-122"/>
                <a:cs typeface="Verdana" pitchFamily="34" charset="-120"/>
              </a:rPr>
              <a:t>Compare quantum randomness with classical pseudo-random generation.</a:t>
            </a:r>
            <a:endParaRPr lang="en-US" dirty="0">
              <a:latin typeface="Georgia" panose="02040502050405020303" pitchFamily="18" charset="0"/>
            </a:endParaRPr>
          </a:p>
          <a:p>
            <a:pPr marL="342900" indent="-342900" algn="just">
              <a:lnSpc>
                <a:spcPts val="3240"/>
              </a:lnSpc>
              <a:buSzPct val="100000"/>
              <a:buChar char="•"/>
            </a:pPr>
            <a:r>
              <a:rPr lang="en-US" dirty="0">
                <a:latin typeface="Georgia" panose="02040502050405020303" pitchFamily="18" charset="0"/>
                <a:ea typeface="Verdana" pitchFamily="34" charset="-122"/>
                <a:cs typeface="Verdana" pitchFamily="34" charset="-120"/>
              </a:rPr>
              <a:t>Apply statistical tests to validate randomness quality.</a:t>
            </a:r>
            <a:endParaRPr lang="en-US" dirty="0">
              <a:latin typeface="Georgia" panose="02040502050405020303" pitchFamily="18" charset="0"/>
            </a:endParaRPr>
          </a:p>
          <a:p>
            <a:pPr marL="342900" indent="-342900" algn="just">
              <a:lnSpc>
                <a:spcPts val="3240"/>
              </a:lnSpc>
              <a:buSzPct val="100000"/>
              <a:buChar char="•"/>
            </a:pPr>
            <a:r>
              <a:rPr lang="en-US" dirty="0">
                <a:latin typeface="Georgia" panose="02040502050405020303" pitchFamily="18" charset="0"/>
                <a:ea typeface="Verdana" pitchFamily="34" charset="-122"/>
                <a:cs typeface="Verdana" pitchFamily="34" charset="-120"/>
              </a:rPr>
              <a:t>Demonstrate quantum advantage in cryptographic applications.</a:t>
            </a:r>
            <a:endParaRPr lang="en-US" dirty="0">
              <a:latin typeface="Georgia" panose="02040502050405020303"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Topics &amp; Concepts</a:t>
            </a:r>
            <a:endParaRPr lang="en-US" sz="2700" dirty="0"/>
          </a:p>
        </p:txBody>
      </p:sp>
      <p:sp>
        <p:nvSpPr>
          <p:cNvPr id="3" name="Text 1"/>
          <p:cNvSpPr/>
          <p:nvPr/>
        </p:nvSpPr>
        <p:spPr>
          <a:xfrm>
            <a:off x="762000" y="1249681"/>
            <a:ext cx="7620000" cy="1577340"/>
          </a:xfrm>
          <a:prstGeom prst="rect">
            <a:avLst/>
          </a:prstGeom>
          <a:noFill/>
          <a:ln/>
        </p:spPr>
        <p:txBody>
          <a:bodyPr wrap="square" lIns="0" tIns="0" rIns="0" bIns="0" rtlCol="0" anchor="t"/>
          <a:lstStyle/>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Quantum Superposition:</a:t>
            </a:r>
            <a:r>
              <a:rPr lang="en-US" sz="1600" dirty="0">
                <a:latin typeface="Georgia" panose="02040502050405020303" pitchFamily="18" charset="0"/>
                <a:ea typeface="Verdana" pitchFamily="34" charset="-122"/>
                <a:cs typeface="Verdana" pitchFamily="34" charset="-120"/>
              </a:rPr>
              <a:t> Qubits exist in both 0 and 1 states simultaneously</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Hadamard Gate:</a:t>
            </a:r>
            <a:r>
              <a:rPr lang="en-US" sz="1600" dirty="0">
                <a:latin typeface="Georgia" panose="02040502050405020303" pitchFamily="18" charset="0"/>
                <a:ea typeface="Verdana" pitchFamily="34" charset="-122"/>
                <a:cs typeface="Verdana" pitchFamily="34" charset="-120"/>
              </a:rPr>
              <a:t> Creates equal superposition (50-50 probability)</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Measurement Collapse:</a:t>
            </a:r>
            <a:r>
              <a:rPr lang="en-US" sz="1600" dirty="0">
                <a:latin typeface="Georgia" panose="02040502050405020303" pitchFamily="18" charset="0"/>
                <a:ea typeface="Verdana" pitchFamily="34" charset="-122"/>
                <a:cs typeface="Verdana" pitchFamily="34" charset="-120"/>
              </a:rPr>
              <a:t> Observation yields deterministic 0 or 1</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Statistical Randomness:</a:t>
            </a:r>
            <a:r>
              <a:rPr lang="en-US" sz="1600" dirty="0">
                <a:latin typeface="Georgia" panose="02040502050405020303" pitchFamily="18" charset="0"/>
                <a:ea typeface="Verdana" pitchFamily="34" charset="-122"/>
                <a:cs typeface="Verdana" pitchFamily="34" charset="-120"/>
              </a:rPr>
              <a:t> Testing for uniformity and bias detection</a:t>
            </a:r>
            <a:endParaRPr lang="en-US" sz="1600" dirty="0">
              <a:latin typeface="Georgia" panose="02040502050405020303"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Tools &amp; Libraries</a:t>
            </a:r>
            <a:endParaRPr lang="en-US" sz="2700" dirty="0"/>
          </a:p>
        </p:txBody>
      </p:sp>
      <p:sp>
        <p:nvSpPr>
          <p:cNvPr id="3" name="Text 1"/>
          <p:cNvSpPr/>
          <p:nvPr/>
        </p:nvSpPr>
        <p:spPr>
          <a:xfrm>
            <a:off x="762000" y="1249681"/>
            <a:ext cx="7620000" cy="2168768"/>
          </a:xfrm>
          <a:prstGeom prst="rect">
            <a:avLst/>
          </a:prstGeom>
          <a:noFill/>
          <a:ln/>
        </p:spPr>
        <p:txBody>
          <a:bodyPr wrap="square" lIns="0" tIns="0" rIns="0" bIns="0" rtlCol="0" anchor="t"/>
          <a:lstStyle/>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Pennylane:</a:t>
            </a:r>
            <a:r>
              <a:rPr lang="en-US" sz="1600" dirty="0">
                <a:latin typeface="Georgia" panose="02040502050405020303" pitchFamily="18" charset="0"/>
                <a:ea typeface="Verdana" pitchFamily="34" charset="-122"/>
                <a:cs typeface="Verdana" pitchFamily="34" charset="-120"/>
              </a:rPr>
              <a:t> Quantum computing framework (qubit simulation, gates, measurement)</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NumPy:</a:t>
            </a:r>
            <a:r>
              <a:rPr lang="en-US" sz="1600" dirty="0">
                <a:latin typeface="Georgia" panose="02040502050405020303" pitchFamily="18" charset="0"/>
                <a:ea typeface="Verdana" pitchFamily="34" charset="-122"/>
                <a:cs typeface="Verdana" pitchFamily="34" charset="-120"/>
              </a:rPr>
              <a:t> Classical pseudo-random generation (randint, statistical utilities)</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SciPy:</a:t>
            </a:r>
            <a:r>
              <a:rPr lang="en-US" sz="1600" dirty="0">
                <a:latin typeface="Georgia" panose="02040502050405020303" pitchFamily="18" charset="0"/>
                <a:ea typeface="Verdana" pitchFamily="34" charset="-122"/>
                <a:cs typeface="Verdana" pitchFamily="34" charset="-120"/>
              </a:rPr>
              <a:t> Chi-square statistical test implementation</a:t>
            </a:r>
            <a:endParaRPr lang="en-US" sz="1600" dirty="0">
              <a:latin typeface="Georgia" panose="02040502050405020303" pitchFamily="18" charset="0"/>
            </a:endParaRPr>
          </a:p>
          <a:p>
            <a:pPr marL="342900" indent="-342900" algn="just">
              <a:lnSpc>
                <a:spcPts val="3240"/>
              </a:lnSpc>
              <a:buSzPct val="100000"/>
              <a:buChar char="•"/>
            </a:pPr>
            <a:r>
              <a:rPr lang="en-US" sz="1600" b="1" dirty="0">
                <a:latin typeface="Georgia" panose="02040502050405020303" pitchFamily="18" charset="0"/>
                <a:ea typeface="Verdana" pitchFamily="34" charset="-122"/>
                <a:cs typeface="Verdana" pitchFamily="34" charset="-120"/>
              </a:rPr>
              <a:t>Python Math:</a:t>
            </a:r>
            <a:r>
              <a:rPr lang="en-US" sz="1600" dirty="0">
                <a:latin typeface="Georgia" panose="02040502050405020303" pitchFamily="18" charset="0"/>
                <a:ea typeface="Verdana" pitchFamily="34" charset="-122"/>
                <a:cs typeface="Verdana" pitchFamily="34" charset="-120"/>
              </a:rPr>
              <a:t> Error function for monobit test calculation</a:t>
            </a:r>
            <a:endParaRPr lang="en-US" sz="1600" dirty="0">
              <a:latin typeface="Georgia" panose="02040502050405020303"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Quantum RNG: Theory</a:t>
            </a:r>
            <a:endParaRPr lang="en-US" sz="2700" dirty="0"/>
          </a:p>
        </p:txBody>
      </p:sp>
      <p:sp>
        <p:nvSpPr>
          <p:cNvPr id="3" name="Text 1"/>
          <p:cNvSpPr/>
          <p:nvPr/>
        </p:nvSpPr>
        <p:spPr>
          <a:xfrm>
            <a:off x="609600" y="1289539"/>
            <a:ext cx="7924800" cy="548640"/>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Quantum Superposition:</a:t>
            </a:r>
            <a:r>
              <a:rPr lang="en-US" sz="1600" dirty="0">
                <a:latin typeface="Georgia" panose="02040502050405020303" pitchFamily="18" charset="0"/>
                <a:ea typeface="Verdana" pitchFamily="34" charset="-122"/>
                <a:cs typeface="Verdana" pitchFamily="34" charset="-120"/>
              </a:rPr>
              <a:t> A qubit exists in both |0⟩ and |1⟩ states simultaneously until measured.</a:t>
            </a:r>
            <a:endParaRPr lang="en-US" sz="1600" dirty="0">
              <a:latin typeface="Georgia" panose="02040502050405020303" pitchFamily="18" charset="0"/>
            </a:endParaRPr>
          </a:p>
        </p:txBody>
      </p:sp>
      <p:sp>
        <p:nvSpPr>
          <p:cNvPr id="4" name="Text 2"/>
          <p:cNvSpPr/>
          <p:nvPr/>
        </p:nvSpPr>
        <p:spPr>
          <a:xfrm>
            <a:off x="609600" y="2106638"/>
            <a:ext cx="7924800" cy="1046871"/>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Measurement Collapse:</a:t>
            </a:r>
            <a:r>
              <a:rPr lang="en-US" sz="1600" dirty="0">
                <a:latin typeface="Georgia" panose="02040502050405020303" pitchFamily="18" charset="0"/>
                <a:ea typeface="Verdana" pitchFamily="34" charset="-122"/>
                <a:cs typeface="Verdana" pitchFamily="34" charset="-120"/>
              </a:rPr>
              <a:t> When measured, the qubit "collapses" to either 0 or 1 with equal probability (50-50). This fundamental quantum indeterminacy is truly unpredictable.</a:t>
            </a:r>
            <a:endParaRPr lang="en-US" sz="1600" dirty="0">
              <a:latin typeface="Georgia" panose="02040502050405020303"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1173480"/>
            <a:ext cx="7924800" cy="2899117"/>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Method 1: Quantum RNG Implementation</a:t>
            </a:r>
            <a:endParaRPr lang="en-US" sz="2700" dirty="0"/>
          </a:p>
        </p:txBody>
      </p:sp>
      <p:sp>
        <p:nvSpPr>
          <p:cNvPr id="4" name="Text 2"/>
          <p:cNvSpPr/>
          <p:nvPr/>
        </p:nvSpPr>
        <p:spPr>
          <a:xfrm>
            <a:off x="609600" y="1173480"/>
            <a:ext cx="7924800" cy="2688102"/>
          </a:xfrm>
          <a:prstGeom prst="rect">
            <a:avLst/>
          </a:prstGeom>
          <a:noFill/>
          <a:ln/>
        </p:spPr>
        <p:txBody>
          <a:bodyPr wrap="square" lIns="0" tIns="0" rIns="0" bIns="0" rtlCol="0" anchor="t"/>
          <a:lstStyle/>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import pennylane as qml</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dev = qml.device("default.qubit", wires=1, shots=1000)</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@qml.qnode(dev)</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def quantum_random_circuit():</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r>
              <a:rPr lang="en-US" sz="1050" dirty="0" err="1">
                <a:solidFill>
                  <a:srgbClr val="CBD5E1"/>
                </a:solidFill>
                <a:latin typeface="Courier New" pitchFamily="34" charset="0"/>
                <a:ea typeface="Courier New" pitchFamily="34" charset="-122"/>
                <a:cs typeface="Courier New" pitchFamily="34" charset="-120"/>
              </a:rPr>
              <a:t>qml.Hadamard</a:t>
            </a:r>
            <a:r>
              <a:rPr lang="en-US" sz="1050" dirty="0">
                <a:solidFill>
                  <a:srgbClr val="CBD5E1"/>
                </a:solidFill>
                <a:latin typeface="Courier New" pitchFamily="34" charset="0"/>
                <a:ea typeface="Courier New" pitchFamily="34" charset="-122"/>
                <a:cs typeface="Courier New" pitchFamily="34" charset="-120"/>
              </a:rPr>
              <a:t>(wires=0)</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return qml.sample(wires=0)</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random_bits = </a:t>
            </a:r>
            <a:r>
              <a:rPr lang="en-US" sz="1050" dirty="0" err="1">
                <a:solidFill>
                  <a:srgbClr val="CBD5E1"/>
                </a:solidFill>
                <a:latin typeface="Courier New" pitchFamily="34" charset="0"/>
                <a:ea typeface="Courier New" pitchFamily="34" charset="-122"/>
                <a:cs typeface="Courier New" pitchFamily="34" charset="-120"/>
              </a:rPr>
              <a:t>quantum_random_circuit</a:t>
            </a:r>
            <a:r>
              <a:rPr lang="en-US" sz="1050" dirty="0">
                <a:solidFill>
                  <a:srgbClr val="CBD5E1"/>
                </a:solidFill>
                <a:latin typeface="Courier New" pitchFamily="34" charset="0"/>
                <a:ea typeface="Courier New" pitchFamily="34" charset="-122"/>
                <a:cs typeface="Courier New" pitchFamily="34" charset="-120"/>
              </a:rPr>
              <a:t>()</a:t>
            </a:r>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Print(</a:t>
            </a:r>
            <a:r>
              <a:rPr lang="en-US" sz="1050" dirty="0" err="1">
                <a:solidFill>
                  <a:srgbClr val="CBD5E1"/>
                </a:solidFill>
                <a:latin typeface="Courier New" pitchFamily="34" charset="0"/>
                <a:ea typeface="Courier New" pitchFamily="34" charset="-122"/>
                <a:cs typeface="Courier New" pitchFamily="34" charset="-120"/>
              </a:rPr>
              <a:t>random_bits</a:t>
            </a:r>
            <a:r>
              <a:rPr lang="en-US" sz="1050" dirty="0">
                <a:solidFill>
                  <a:srgbClr val="CBD5E1"/>
                </a:solidFill>
                <a:latin typeface="Courier New" pitchFamily="34" charset="0"/>
                <a:ea typeface="Courier New" pitchFamily="34" charset="-122"/>
                <a:cs typeface="Courier New" pitchFamily="34" charset="-120"/>
              </a:rPr>
              <a:t>)</a:t>
            </a:r>
          </a:p>
          <a:p>
            <a:pPr marL="0" indent="0">
              <a:lnSpc>
                <a:spcPts val="2100"/>
              </a:lnSpc>
              <a:buNone/>
            </a:pP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5BA3DE74-AD0D-D1EC-CDA5-22BF05ADAF7A}"/>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F2617F1-1BE7-D893-AB09-13F9244FD9D9}"/>
              </a:ext>
            </a:extLst>
          </p:cNvPr>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Method 1: Quantum RNG Implementation</a:t>
            </a:r>
            <a:endParaRPr lang="en-US" sz="2700" dirty="0"/>
          </a:p>
        </p:txBody>
      </p:sp>
      <p:pic>
        <p:nvPicPr>
          <p:cNvPr id="7" name="Picture 6">
            <a:extLst>
              <a:ext uri="{FF2B5EF4-FFF2-40B4-BE49-F238E27FC236}">
                <a16:creationId xmlns:a16="http://schemas.microsoft.com/office/drawing/2014/main" id="{E416C38D-8156-10E7-16F6-4F73B4665551}"/>
              </a:ext>
            </a:extLst>
          </p:cNvPr>
          <p:cNvPicPr>
            <a:picLocks noChangeAspect="1"/>
          </p:cNvPicPr>
          <p:nvPr/>
        </p:nvPicPr>
        <p:blipFill>
          <a:blip r:embed="rId3"/>
          <a:stretch>
            <a:fillRect/>
          </a:stretch>
        </p:blipFill>
        <p:spPr>
          <a:xfrm>
            <a:off x="2251434" y="1225750"/>
            <a:ext cx="4008689" cy="3720802"/>
          </a:xfrm>
          <a:prstGeom prst="rect">
            <a:avLst/>
          </a:prstGeom>
        </p:spPr>
      </p:pic>
    </p:spTree>
    <p:extLst>
      <p:ext uri="{BB962C8B-B14F-4D97-AF65-F5344CB8AC3E}">
        <p14:creationId xmlns:p14="http://schemas.microsoft.com/office/powerpoint/2010/main" val="3437867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490025"/>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Classical RNG: Theory</a:t>
            </a:r>
            <a:endParaRPr lang="en-US" sz="2700" dirty="0"/>
          </a:p>
        </p:txBody>
      </p:sp>
      <mc:AlternateContent xmlns:mc="http://schemas.openxmlformats.org/markup-compatibility/2006" xmlns:a14="http://schemas.microsoft.com/office/drawing/2010/main">
        <mc:Choice Requires="a14">
          <p:sp>
            <p:nvSpPr>
              <p:cNvPr id="3" name="Text 1"/>
              <p:cNvSpPr/>
              <p:nvPr/>
            </p:nvSpPr>
            <p:spPr>
              <a:xfrm>
                <a:off x="609600" y="1032802"/>
                <a:ext cx="7924800" cy="3970021"/>
              </a:xfrm>
              <a:prstGeom prst="rect">
                <a:avLst/>
              </a:prstGeom>
              <a:noFill/>
              <a:ln/>
            </p:spPr>
            <p:txBody>
              <a:bodyPr wrap="square" lIns="0" tIns="0" rIns="0" bIns="0" rtlCol="0" anchor="t"/>
              <a:lstStyle/>
              <a:p>
                <a:pPr algn="just"/>
                <a:r>
                  <a:rPr lang="en-US" sz="2000" b="1" dirty="0">
                    <a:solidFill>
                      <a:srgbClr val="38BDF8"/>
                    </a:solidFill>
                    <a:latin typeface="Georgia" panose="02040502050405020303" pitchFamily="18" charset="0"/>
                    <a:ea typeface="Verdana" pitchFamily="34" charset="-122"/>
                    <a:cs typeface="Verdana" pitchFamily="34" charset="-120"/>
                  </a:rPr>
                  <a:t>Pseudo-Random Number Generator (PRNG):</a:t>
                </a:r>
                <a:r>
                  <a:rPr lang="en-US" sz="2000" dirty="0">
                    <a:solidFill>
                      <a:srgbClr val="CBD5E1"/>
                    </a:solidFill>
                    <a:latin typeface="Georgia" panose="02040502050405020303" pitchFamily="18" charset="0"/>
                    <a:ea typeface="Verdana" pitchFamily="34" charset="-122"/>
                    <a:cs typeface="Verdana" pitchFamily="34" charset="-120"/>
                  </a:rPr>
                  <a:t> </a:t>
                </a:r>
              </a:p>
              <a:p>
                <a:pPr algn="just"/>
                <a:endParaRPr lang="en-US" sz="2000" dirty="0">
                  <a:solidFill>
                    <a:srgbClr val="CBD5E1"/>
                  </a:solidFill>
                  <a:latin typeface="Georgia" panose="02040502050405020303" pitchFamily="18" charset="0"/>
                  <a:ea typeface="Verdana" pitchFamily="34" charset="-122"/>
                  <a:cs typeface="Verdana" pitchFamily="34" charset="-120"/>
                </a:endParaRPr>
              </a:p>
              <a:p>
                <a:pPr algn="just"/>
                <a:r>
                  <a:rPr lang="en-US" sz="1600" dirty="0">
                    <a:latin typeface="Georgia" panose="02040502050405020303" pitchFamily="18" charset="0"/>
                  </a:rPr>
                  <a:t>A Pseudo-Random Number Generator (PRNG) is a computer algorithm designed to generate a sequence of numbers that approximates the properties of true randomness, but is entirely deterministic—meaning the sequence is defined by an initial value called the "seed“. </a:t>
                </a:r>
              </a:p>
              <a:p>
                <a:pPr algn="just"/>
                <a:endParaRPr lang="en-US" sz="1600" dirty="0">
                  <a:latin typeface="Georgia" panose="02040502050405020303" pitchFamily="18" charset="0"/>
                </a:endParaRPr>
              </a:p>
              <a:p>
                <a:pPr algn="just"/>
                <a:r>
                  <a:rPr lang="en-US" sz="1600" dirty="0">
                    <a:latin typeface="Georgia" panose="02040502050405020303" pitchFamily="18" charset="0"/>
                  </a:rPr>
                  <a:t>Algorithmic Construction: A PRNG uses a mathematical formula, such as the linear congruential generator, to generate each new value from the previous one and the seed.</a:t>
                </a:r>
              </a:p>
              <a:p>
                <a:pPr algn="just"/>
                <a:r>
                  <a:rPr lang="en-US" sz="1600" dirty="0">
                    <a:latin typeface="Georgia" panose="02040502050405020303" pitchFamily="18" charset="0"/>
                  </a:rPr>
                  <a:t>​</a:t>
                </a:r>
              </a:p>
              <a:p>
                <a:pPr algn="just"/>
                <a:r>
                  <a:rPr lang="en-US" sz="1600" dirty="0">
                    <a:latin typeface="Georgia" panose="02040502050405020303" pitchFamily="18" charset="0"/>
                  </a:rPr>
                  <a:t>Seed Value: The sequence always starts from a seed. If you use the same seed again, the PRNG will produce the exact same sequence every time.</a:t>
                </a:r>
              </a:p>
              <a:p>
                <a:pPr algn="just"/>
                <a:r>
                  <a:rPr lang="en-US" sz="1600" dirty="0">
                    <a:latin typeface="Georgia" panose="02040502050405020303" pitchFamily="18" charset="0"/>
                  </a:rPr>
                  <a:t>Example Algorithm (Linear Congruential Generator):</a:t>
                </a:r>
              </a:p>
              <a:p>
                <a:pPr algn="just"/>
                <a14:m>
                  <m:oMathPara xmlns:m="http://schemas.openxmlformats.org/officeDocument/2006/math">
                    <m:oMathParaPr>
                      <m:jc m:val="centerGroup"/>
                    </m:oMathParaPr>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𝑋</m:t>
                          </m:r>
                        </m:e>
                        <m:sub>
                          <m:r>
                            <a:rPr lang="ar-AE" sz="1600" i="1">
                              <a:latin typeface="Cambria Math" panose="02040503050406030204" pitchFamily="18" charset="0"/>
                            </a:rPr>
                            <m:t>𝑛</m:t>
                          </m:r>
                          <m:r>
                            <a:rPr lang="ar-AE" sz="1600">
                              <a:latin typeface="Cambria Math" panose="02040503050406030204" pitchFamily="18" charset="0"/>
                            </a:rPr>
                            <m:t>+</m:t>
                          </m:r>
                          <m:r>
                            <a:rPr lang="ar-AE" sz="1600">
                              <a:latin typeface="Cambria Math" panose="02040503050406030204" pitchFamily="18" charset="0"/>
                            </a:rPr>
                            <m:t>1</m:t>
                          </m:r>
                        </m:sub>
                      </m:sSub>
                      <m:r>
                        <a:rPr lang="ar-AE" sz="1600">
                          <a:latin typeface="Cambria Math" panose="02040503050406030204" pitchFamily="18" charset="0"/>
                        </a:rPr>
                        <m:t>=</m:t>
                      </m:r>
                      <m:d>
                        <m:dPr>
                          <m:ctrlPr>
                            <a:rPr lang="ar-AE" sz="1600" i="1">
                              <a:latin typeface="Cambria Math" panose="02040503050406030204" pitchFamily="18" charset="0"/>
                            </a:rPr>
                          </m:ctrlPr>
                        </m:dPr>
                        <m:e>
                          <m:r>
                            <a:rPr lang="ar-AE" sz="1600" i="1">
                              <a:latin typeface="Cambria Math" panose="02040503050406030204" pitchFamily="18" charset="0"/>
                            </a:rPr>
                            <m:t>𝑎</m:t>
                          </m:r>
                          <m:sSub>
                            <m:sSubPr>
                              <m:ctrlPr>
                                <a:rPr lang="ar-AE" sz="1600" i="1">
                                  <a:latin typeface="Cambria Math" panose="02040503050406030204" pitchFamily="18" charset="0"/>
                                </a:rPr>
                              </m:ctrlPr>
                            </m:sSubPr>
                            <m:e>
                              <m:r>
                                <a:rPr lang="ar-AE" sz="1600" i="1">
                                  <a:latin typeface="Cambria Math" panose="02040503050406030204" pitchFamily="18" charset="0"/>
                                </a:rPr>
                                <m:t>𝑋</m:t>
                              </m:r>
                            </m:e>
                            <m:sub>
                              <m:r>
                                <a:rPr lang="ar-AE" sz="1600" i="1">
                                  <a:latin typeface="Cambria Math" panose="02040503050406030204" pitchFamily="18" charset="0"/>
                                </a:rPr>
                                <m:t>𝑛</m:t>
                              </m:r>
                            </m:sub>
                          </m:sSub>
                          <m:r>
                            <a:rPr lang="ar-AE" sz="1600">
                              <a:latin typeface="Cambria Math" panose="02040503050406030204" pitchFamily="18" charset="0"/>
                            </a:rPr>
                            <m:t>+</m:t>
                          </m:r>
                          <m:r>
                            <a:rPr lang="ar-AE" sz="1600" i="1">
                              <a:latin typeface="Cambria Math" panose="02040503050406030204" pitchFamily="18" charset="0"/>
                            </a:rPr>
                            <m:t>𝑐</m:t>
                          </m:r>
                        </m:e>
                      </m:d>
                      <m:r>
                        <a:rPr lang="ar-AE" sz="1600">
                          <a:latin typeface="Cambria Math" panose="02040503050406030204" pitchFamily="18" charset="0"/>
                        </a:rPr>
                        <m:t>  </m:t>
                      </m:r>
                      <m:r>
                        <m:rPr>
                          <m:sty m:val="p"/>
                        </m:rPr>
                        <a:rPr lang="en-US" sz="1600">
                          <a:latin typeface="Cambria Math" panose="02040503050406030204" pitchFamily="18" charset="0"/>
                        </a:rPr>
                        <m:t>mod</m:t>
                      </m:r>
                      <m:r>
                        <m:rPr>
                          <m:nor/>
                        </m:rPr>
                        <a:rPr lang="en-US" sz="1600" i="1">
                          <a:latin typeface="Georgia" panose="02040502050405020303" pitchFamily="18" charset="0"/>
                        </a:rPr>
                        <m:t>  </m:t>
                      </m:r>
                      <m:r>
                        <a:rPr lang="en-US" sz="1600" i="1">
                          <a:latin typeface="Cambria Math" panose="02040503050406030204" pitchFamily="18" charset="0"/>
                        </a:rPr>
                        <m:t>𝑚</m:t>
                      </m:r>
                    </m:oMath>
                  </m:oMathPara>
                </a14:m>
                <a:endParaRPr lang="en-US" sz="1600" b="0" dirty="0">
                  <a:latin typeface="Georgia" panose="02040502050405020303" pitchFamily="18" charset="0"/>
                </a:endParaRPr>
              </a:p>
              <a:p>
                <a:pPr algn="just"/>
                <a:r>
                  <a:rPr lang="en-US" sz="1600" dirty="0">
                    <a:latin typeface="Georgia" panose="02040502050405020303" pitchFamily="18" charset="0"/>
                  </a:rPr>
                  <a:t>Where </a:t>
                </a:r>
                <a14:m>
                  <m:oMath xmlns:m="http://schemas.openxmlformats.org/officeDocument/2006/math">
                    <m:sSub>
                      <m:sSubPr>
                        <m:ctrlPr>
                          <a:rPr lang="ar-AE" sz="1600" i="1">
                            <a:latin typeface="Cambria Math" panose="02040503050406030204" pitchFamily="18" charset="0"/>
                          </a:rPr>
                        </m:ctrlPr>
                      </m:sSubPr>
                      <m:e>
                        <m:r>
                          <a:rPr lang="ar-AE" sz="1600" i="1">
                            <a:latin typeface="Cambria Math" panose="02040503050406030204" pitchFamily="18" charset="0"/>
                          </a:rPr>
                          <m:t>𝑋</m:t>
                        </m:r>
                      </m:e>
                      <m:sub>
                        <m:r>
                          <a:rPr lang="ar-AE" sz="1600">
                            <a:latin typeface="Cambria Math" panose="02040503050406030204" pitchFamily="18" charset="0"/>
                          </a:rPr>
                          <m:t>0</m:t>
                        </m:r>
                      </m:sub>
                    </m:sSub>
                  </m:oMath>
                </a14:m>
                <a:r>
                  <a:rPr lang="ar-AE" sz="1600" dirty="0">
                    <a:latin typeface="Georgia" panose="02040502050405020303" pitchFamily="18" charset="0"/>
                  </a:rPr>
                  <a:t> </a:t>
                </a:r>
                <a:r>
                  <a:rPr lang="en-US" sz="1600" dirty="0">
                    <a:latin typeface="Georgia" panose="02040502050405020303" pitchFamily="18" charset="0"/>
                  </a:rPr>
                  <a:t>is the seed, and </a:t>
                </a:r>
                <a14:m>
                  <m:oMath xmlns:m="http://schemas.openxmlformats.org/officeDocument/2006/math">
                    <m:r>
                      <a:rPr lang="en-US" sz="1600" i="1">
                        <a:latin typeface="Cambria Math" panose="02040503050406030204" pitchFamily="18" charset="0"/>
                      </a:rPr>
                      <m:t>𝑎</m:t>
                    </m:r>
                    <m:r>
                      <a:rPr lang="en-US" sz="1600">
                        <a:latin typeface="Cambria Math" panose="02040503050406030204" pitchFamily="18" charset="0"/>
                      </a:rPr>
                      <m:t>,</m:t>
                    </m:r>
                    <m:r>
                      <a:rPr lang="en-US" sz="1600" i="1">
                        <a:latin typeface="Cambria Math" panose="02040503050406030204" pitchFamily="18" charset="0"/>
                      </a:rPr>
                      <m:t>𝑐</m:t>
                    </m:r>
                    <m:r>
                      <a:rPr lang="en-US" sz="1600">
                        <a:latin typeface="Cambria Math" panose="02040503050406030204" pitchFamily="18" charset="0"/>
                      </a:rPr>
                      <m:t>,</m:t>
                    </m:r>
                    <m:r>
                      <a:rPr lang="en-US" sz="1600" i="1">
                        <a:latin typeface="Cambria Math" panose="02040503050406030204" pitchFamily="18" charset="0"/>
                      </a:rPr>
                      <m:t>𝑚</m:t>
                    </m:r>
                  </m:oMath>
                </a14:m>
                <a:r>
                  <a:rPr lang="en-US" sz="1600" dirty="0">
                    <a:latin typeface="Georgia" panose="02040502050405020303" pitchFamily="18" charset="0"/>
                  </a:rPr>
                  <a:t> are constants</a:t>
                </a:r>
              </a:p>
              <a:p>
                <a:pPr algn="just">
                  <a:lnSpc>
                    <a:spcPts val="2880"/>
                  </a:lnSpc>
                </a:pPr>
                <a:endParaRPr lang="en-US" sz="1350" dirty="0">
                  <a:latin typeface="Georgia" panose="02040502050405020303" pitchFamily="18" charset="0"/>
                </a:endParaRPr>
              </a:p>
            </p:txBody>
          </p:sp>
        </mc:Choice>
        <mc:Fallback xmlns="">
          <p:sp>
            <p:nvSpPr>
              <p:cNvPr id="3" name="Text 1"/>
              <p:cNvSpPr>
                <a:spLocks noRot="1" noChangeAspect="1" noMove="1" noResize="1" noEditPoints="1" noAdjustHandles="1" noChangeArrowheads="1" noChangeShapeType="1" noTextEdit="1"/>
              </p:cNvSpPr>
              <p:nvPr/>
            </p:nvSpPr>
            <p:spPr>
              <a:xfrm>
                <a:off x="609600" y="1032802"/>
                <a:ext cx="7924800" cy="3970021"/>
              </a:xfrm>
              <a:prstGeom prst="rect">
                <a:avLst/>
              </a:prstGeom>
              <a:blipFill>
                <a:blip r:embed="rId3"/>
                <a:stretch>
                  <a:fillRect l="-1923" t="-2147" r="-1538"/>
                </a:stretch>
              </a:blipFill>
              <a:ln/>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2084071"/>
            <a:ext cx="7924800" cy="1257300"/>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Method 2: Classical RNG Implementation</a:t>
            </a:r>
            <a:endParaRPr lang="en-US" sz="2700" dirty="0"/>
          </a:p>
        </p:txBody>
      </p:sp>
      <p:sp>
        <p:nvSpPr>
          <p:cNvPr id="4" name="Text 2"/>
          <p:cNvSpPr/>
          <p:nvPr/>
        </p:nvSpPr>
        <p:spPr>
          <a:xfrm>
            <a:off x="609600" y="2082899"/>
            <a:ext cx="7924800" cy="1257300"/>
          </a:xfrm>
          <a:prstGeom prst="rect">
            <a:avLst/>
          </a:prstGeom>
          <a:noFill/>
          <a:ln/>
        </p:spPr>
        <p:txBody>
          <a:bodyPr wrap="square" lIns="0" tIns="0" rIns="0" bIns="0" rtlCol="0" anchor="t"/>
          <a:lstStyle/>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import numpy as np</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classical_bits = np.random.randint(0, 2, size=1000)</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print(classical_bits)</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57F5F54E-EF55-D37A-FCCD-B61350194FE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95C8255-955D-FB94-FC42-059955481C64}"/>
              </a:ext>
            </a:extLst>
          </p:cNvPr>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Method 2: Classical RNG Implementation</a:t>
            </a:r>
            <a:endParaRPr lang="en-US" sz="2700" dirty="0"/>
          </a:p>
        </p:txBody>
      </p:sp>
      <p:pic>
        <p:nvPicPr>
          <p:cNvPr id="6" name="Picture 5">
            <a:extLst>
              <a:ext uri="{FF2B5EF4-FFF2-40B4-BE49-F238E27FC236}">
                <a16:creationId xmlns:a16="http://schemas.microsoft.com/office/drawing/2014/main" id="{447451FE-9AFB-15F0-CE07-E45E37D46631}"/>
              </a:ext>
            </a:extLst>
          </p:cNvPr>
          <p:cNvPicPr>
            <a:picLocks noChangeAspect="1"/>
          </p:cNvPicPr>
          <p:nvPr/>
        </p:nvPicPr>
        <p:blipFill>
          <a:blip r:embed="rId3"/>
          <a:stretch>
            <a:fillRect/>
          </a:stretch>
        </p:blipFill>
        <p:spPr>
          <a:xfrm>
            <a:off x="2059621" y="1150838"/>
            <a:ext cx="4348213" cy="3992662"/>
          </a:xfrm>
          <a:prstGeom prst="rect">
            <a:avLst/>
          </a:prstGeom>
        </p:spPr>
      </p:pic>
    </p:spTree>
    <p:extLst>
      <p:ext uri="{BB962C8B-B14F-4D97-AF65-F5344CB8AC3E}">
        <p14:creationId xmlns:p14="http://schemas.microsoft.com/office/powerpoint/2010/main" val="953794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Chi-Square Test</a:t>
            </a:r>
            <a:endParaRPr lang="en-US" sz="2700" dirty="0"/>
          </a:p>
        </p:txBody>
      </p:sp>
      <p:sp>
        <p:nvSpPr>
          <p:cNvPr id="3" name="Text 1"/>
          <p:cNvSpPr/>
          <p:nvPr/>
        </p:nvSpPr>
        <p:spPr>
          <a:xfrm>
            <a:off x="609600" y="1308151"/>
            <a:ext cx="7924800" cy="548640"/>
          </a:xfrm>
          <a:prstGeom prst="rect">
            <a:avLst/>
          </a:prstGeom>
          <a:noFill/>
          <a:ln/>
        </p:spPr>
        <p:txBody>
          <a:bodyPr wrap="square" lIns="0" tIns="0" rIns="0" bIns="0" rtlCol="0" anchor="t"/>
          <a:lstStyle/>
          <a:p>
            <a:pPr marL="0" indent="0">
              <a:lnSpc>
                <a:spcPts val="2880"/>
              </a:lnSpc>
              <a:buNone/>
            </a:pPr>
            <a:r>
              <a:rPr lang="en-US" sz="1600" dirty="0">
                <a:latin typeface="Georgia" panose="02040502050405020303" pitchFamily="18" charset="0"/>
                <a:ea typeface="Verdana" pitchFamily="34" charset="-122"/>
                <a:cs typeface="Verdana" pitchFamily="34" charset="-120"/>
              </a:rPr>
              <a:t>Tests if observed frequency of 0s and 1s matches expected distribution. Detects systematic bias.</a:t>
            </a:r>
            <a:endParaRPr lang="en-US" sz="1600" dirty="0">
              <a:latin typeface="Georgia" panose="02040502050405020303" pitchFamily="18" charset="0"/>
            </a:endParaRPr>
          </a:p>
        </p:txBody>
      </p:sp>
      <p:sp>
        <p:nvSpPr>
          <p:cNvPr id="4" name="Text 2"/>
          <p:cNvSpPr/>
          <p:nvPr/>
        </p:nvSpPr>
        <p:spPr>
          <a:xfrm>
            <a:off x="665871" y="2434590"/>
            <a:ext cx="8083296" cy="274320"/>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Formula:</a:t>
            </a:r>
            <a:r>
              <a:rPr lang="en-US" sz="1600" dirty="0">
                <a:latin typeface="Georgia" panose="02040502050405020303" pitchFamily="18" charset="0"/>
                <a:ea typeface="Verdana" pitchFamily="34" charset="-122"/>
                <a:cs typeface="Verdana" pitchFamily="34" charset="-120"/>
              </a:rPr>
              <a:t> χ² = Σ(observed - expected)² / expected</a:t>
            </a:r>
            <a:endParaRPr lang="en-US" sz="1600" dirty="0">
              <a:latin typeface="Georgia" panose="02040502050405020303" pitchFamily="18" charset="0"/>
            </a:endParaRPr>
          </a:p>
        </p:txBody>
      </p:sp>
      <p:sp>
        <p:nvSpPr>
          <p:cNvPr id="5" name="Text 3"/>
          <p:cNvSpPr/>
          <p:nvPr/>
        </p:nvSpPr>
        <p:spPr>
          <a:xfrm>
            <a:off x="665871" y="3229414"/>
            <a:ext cx="8083296" cy="962758"/>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Decision:</a:t>
            </a:r>
            <a:r>
              <a:rPr lang="en-US" sz="1600" dirty="0">
                <a:latin typeface="Georgia" panose="02040502050405020303" pitchFamily="18" charset="0"/>
                <a:ea typeface="Verdana" pitchFamily="34" charset="-122"/>
                <a:cs typeface="Verdana" pitchFamily="34" charset="-120"/>
              </a:rPr>
              <a:t> p-value &gt; 0.05 = PASS (random) | p-value &lt; 0.05 = FAIL (biased)</a:t>
            </a:r>
            <a:endParaRPr lang="en-US" sz="1600" dirty="0">
              <a:latin typeface="Georgia" panose="02040502050405020303" pitchFamily="18" charset="0"/>
            </a:endParaRPr>
          </a:p>
        </p:txBody>
      </p:sp>
      <p:pic>
        <p:nvPicPr>
          <p:cNvPr id="7" name="Picture 6">
            <a:extLst>
              <a:ext uri="{FF2B5EF4-FFF2-40B4-BE49-F238E27FC236}">
                <a16:creationId xmlns:a16="http://schemas.microsoft.com/office/drawing/2014/main" id="{3FAD7E40-3F32-BC38-ECF6-934ABFBBB400}"/>
              </a:ext>
            </a:extLst>
          </p:cNvPr>
          <p:cNvPicPr>
            <a:picLocks noChangeAspect="1"/>
          </p:cNvPicPr>
          <p:nvPr/>
        </p:nvPicPr>
        <p:blipFill>
          <a:blip r:embed="rId3"/>
          <a:stretch>
            <a:fillRect/>
          </a:stretch>
        </p:blipFill>
        <p:spPr>
          <a:xfrm>
            <a:off x="5529690" y="2246883"/>
            <a:ext cx="2276793" cy="92405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anose="02040502050405020303" pitchFamily="18" charset="0"/>
                <a:ea typeface="Arial" pitchFamily="34" charset="-122"/>
                <a:cs typeface="Arial" pitchFamily="34" charset="-120"/>
              </a:rPr>
              <a:t>Chi-Square Test: Purpose</a:t>
            </a:r>
            <a:endParaRPr lang="en-US" sz="2700" dirty="0">
              <a:latin typeface="Georgia" panose="02040502050405020303" pitchFamily="18" charset="0"/>
            </a:endParaRPr>
          </a:p>
        </p:txBody>
      </p:sp>
      <p:sp>
        <p:nvSpPr>
          <p:cNvPr id="3" name="Text 1"/>
          <p:cNvSpPr/>
          <p:nvPr/>
        </p:nvSpPr>
        <p:spPr>
          <a:xfrm>
            <a:off x="762000" y="1275471"/>
            <a:ext cx="7620000" cy="2000250"/>
          </a:xfrm>
          <a:prstGeom prst="rect">
            <a:avLst/>
          </a:prstGeom>
          <a:noFill/>
          <a:ln/>
        </p:spPr>
        <p:txBody>
          <a:bodyPr wrap="square" lIns="0" tIns="0" rIns="0" bIns="0" rtlCol="0" anchor="t"/>
          <a:lstStyle/>
          <a:p>
            <a:pPr marL="342900" indent="-342900" algn="just">
              <a:lnSpc>
                <a:spcPts val="3240"/>
              </a:lnSpc>
              <a:buSzPct val="100000"/>
              <a:buChar char="•"/>
            </a:pPr>
            <a:r>
              <a:rPr lang="en-US" sz="1600" dirty="0">
                <a:latin typeface="Georgia" panose="02040502050405020303" pitchFamily="18" charset="0"/>
                <a:ea typeface="Arial" pitchFamily="34" charset="-122"/>
                <a:cs typeface="Arial" pitchFamily="34" charset="-120"/>
              </a:rPr>
              <a:t>Tests </a:t>
            </a:r>
            <a:r>
              <a:rPr lang="en-US" sz="1600" b="1" dirty="0">
                <a:latin typeface="Georgia" panose="02040502050405020303" pitchFamily="18" charset="0"/>
                <a:ea typeface="Arial" pitchFamily="34" charset="-122"/>
                <a:cs typeface="Arial" pitchFamily="34" charset="-120"/>
              </a:rPr>
              <a:t>frequency distribution</a:t>
            </a:r>
            <a:r>
              <a:rPr lang="en-US" sz="1600" dirty="0">
                <a:latin typeface="Georgia" panose="02040502050405020303" pitchFamily="18" charset="0"/>
                <a:ea typeface="Arial" pitchFamily="34" charset="-122"/>
                <a:cs typeface="Arial" pitchFamily="34" charset="-120"/>
              </a:rPr>
              <a:t> of 0s and 1s</a:t>
            </a:r>
            <a:endParaRPr lang="en-US" sz="1600" dirty="0">
              <a:latin typeface="Georgia" panose="02040502050405020303" pitchFamily="18" charset="0"/>
            </a:endParaRPr>
          </a:p>
          <a:p>
            <a:pPr marL="342900" indent="-342900" algn="just">
              <a:lnSpc>
                <a:spcPts val="3240"/>
              </a:lnSpc>
              <a:buSzPct val="100000"/>
              <a:buChar char="•"/>
            </a:pPr>
            <a:r>
              <a:rPr lang="en-US" sz="1600" dirty="0">
                <a:latin typeface="Georgia" panose="02040502050405020303" pitchFamily="18" charset="0"/>
                <a:ea typeface="Arial" pitchFamily="34" charset="-122"/>
                <a:cs typeface="Arial" pitchFamily="34" charset="-120"/>
              </a:rPr>
              <a:t>Detects </a:t>
            </a:r>
            <a:r>
              <a:rPr lang="en-US" sz="1600" b="1" dirty="0">
                <a:latin typeface="Georgia" panose="02040502050405020303" pitchFamily="18" charset="0"/>
                <a:ea typeface="Arial" pitchFamily="34" charset="-122"/>
                <a:cs typeface="Arial" pitchFamily="34" charset="-120"/>
              </a:rPr>
              <a:t>systematic bias</a:t>
            </a:r>
            <a:r>
              <a:rPr lang="en-US" sz="1600" dirty="0">
                <a:latin typeface="Georgia" panose="02040502050405020303" pitchFamily="18" charset="0"/>
                <a:ea typeface="Arial" pitchFamily="34" charset="-122"/>
                <a:cs typeface="Arial" pitchFamily="34" charset="-120"/>
              </a:rPr>
              <a:t> in the bitstream</a:t>
            </a:r>
            <a:endParaRPr lang="en-US" sz="1600" dirty="0">
              <a:latin typeface="Georgia" panose="02040502050405020303" pitchFamily="18" charset="0"/>
            </a:endParaRPr>
          </a:p>
          <a:p>
            <a:pPr marL="342900" indent="-342900" algn="just">
              <a:lnSpc>
                <a:spcPts val="3240"/>
              </a:lnSpc>
              <a:buSzPct val="100000"/>
              <a:buChar char="•"/>
            </a:pPr>
            <a:r>
              <a:rPr lang="en-US" sz="1600" dirty="0">
                <a:latin typeface="Georgia" panose="02040502050405020303" pitchFamily="18" charset="0"/>
                <a:ea typeface="Arial" pitchFamily="34" charset="-122"/>
                <a:cs typeface="Arial" pitchFamily="34" charset="-120"/>
              </a:rPr>
              <a:t>Compares observed counts against expected 500-500 split</a:t>
            </a:r>
            <a:endParaRPr lang="en-US" sz="1600" dirty="0">
              <a:latin typeface="Georgia" panose="02040502050405020303" pitchFamily="18" charset="0"/>
            </a:endParaRPr>
          </a:p>
          <a:p>
            <a:pPr marL="342900" indent="-342900" algn="just">
              <a:lnSpc>
                <a:spcPts val="3240"/>
              </a:lnSpc>
              <a:buSzPct val="100000"/>
              <a:buChar char="•"/>
            </a:pPr>
            <a:r>
              <a:rPr lang="en-US" sz="1600" dirty="0">
                <a:latin typeface="Georgia" panose="02040502050405020303" pitchFamily="18" charset="0"/>
                <a:ea typeface="Arial" pitchFamily="34" charset="-122"/>
                <a:cs typeface="Arial" pitchFamily="34" charset="-120"/>
              </a:rPr>
              <a:t>Fundamental test: No bias = true randomness</a:t>
            </a:r>
            <a:endParaRPr lang="en-US" sz="1600" dirty="0">
              <a:latin typeface="Georgia" panose="02040502050405020303" pitchFamily="18" charset="0"/>
            </a:endParaRPr>
          </a:p>
          <a:p>
            <a:pPr marL="342900" indent="-342900" algn="just">
              <a:lnSpc>
                <a:spcPts val="3240"/>
              </a:lnSpc>
              <a:buSzPct val="100000"/>
              <a:buChar char="•"/>
            </a:pPr>
            <a:r>
              <a:rPr lang="en-US" sz="1600" dirty="0">
                <a:latin typeface="Georgia" panose="02040502050405020303" pitchFamily="18" charset="0"/>
                <a:ea typeface="Arial" pitchFamily="34" charset="-122"/>
                <a:cs typeface="Arial" pitchFamily="34" charset="-120"/>
              </a:rPr>
              <a:t>Part of </a:t>
            </a:r>
            <a:r>
              <a:rPr lang="en-US" sz="1600" b="1" dirty="0">
                <a:latin typeface="Georgia" panose="02040502050405020303" pitchFamily="18" charset="0"/>
                <a:ea typeface="Arial" pitchFamily="34" charset="-122"/>
                <a:cs typeface="Arial" pitchFamily="34" charset="-120"/>
              </a:rPr>
              <a:t>NIST SP 800-22</a:t>
            </a:r>
            <a:r>
              <a:rPr lang="en-US" sz="1600" dirty="0">
                <a:latin typeface="Georgia" panose="02040502050405020303" pitchFamily="18" charset="0"/>
                <a:ea typeface="Arial" pitchFamily="34" charset="-122"/>
                <a:cs typeface="Arial" pitchFamily="34" charset="-120"/>
              </a:rPr>
              <a:t> standard for RNG validation</a:t>
            </a:r>
            <a:endParaRPr lang="en-US" sz="1600" dirty="0">
              <a:latin typeface="Georgia" panose="02040502050405020303"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1173482"/>
            <a:ext cx="7924800" cy="2484118"/>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Chi-Square Test Implementation</a:t>
            </a:r>
            <a:endParaRPr lang="en-US" sz="2700" dirty="0"/>
          </a:p>
        </p:txBody>
      </p:sp>
      <p:sp>
        <p:nvSpPr>
          <p:cNvPr id="4" name="Text 2"/>
          <p:cNvSpPr/>
          <p:nvPr/>
        </p:nvSpPr>
        <p:spPr>
          <a:xfrm>
            <a:off x="609600" y="1173482"/>
            <a:ext cx="7924800" cy="2257425"/>
          </a:xfrm>
          <a:prstGeom prst="rect">
            <a:avLst/>
          </a:prstGeom>
          <a:noFill/>
          <a:ln/>
        </p:spPr>
        <p:txBody>
          <a:bodyPr wrap="square" lIns="0" tIns="0" rIns="0" bIns="0" rtlCol="0" anchor="t"/>
          <a:lstStyle/>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from scipy.stats import chisquare</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import numpy as np</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def chi_square_test(bits):</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counts = [np.count_nonzero(bits == 0), np.count_nonzero(bits == 1)]</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chi2, p_value = chisquare(counts)</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return chi2, p_value</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quantum_chi2, quantum_p = chi_square_test(random_bits)</a:t>
            </a:r>
            <a:endParaRPr lang="en-US" sz="1050" dirty="0"/>
          </a:p>
        </p:txBody>
      </p:sp>
      <p:pic>
        <p:nvPicPr>
          <p:cNvPr id="6" name="Picture 5">
            <a:extLst>
              <a:ext uri="{FF2B5EF4-FFF2-40B4-BE49-F238E27FC236}">
                <a16:creationId xmlns:a16="http://schemas.microsoft.com/office/drawing/2014/main" id="{536681C9-318E-A172-0EE8-AA535CE6DA43}"/>
              </a:ext>
            </a:extLst>
          </p:cNvPr>
          <p:cNvPicPr>
            <a:picLocks noChangeAspect="1"/>
          </p:cNvPicPr>
          <p:nvPr/>
        </p:nvPicPr>
        <p:blipFill>
          <a:blip r:embed="rId3"/>
          <a:stretch>
            <a:fillRect/>
          </a:stretch>
        </p:blipFill>
        <p:spPr>
          <a:xfrm>
            <a:off x="609600" y="3970018"/>
            <a:ext cx="6449325" cy="6287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Monobit Test</a:t>
            </a:r>
            <a:endParaRPr lang="en-US" sz="2700" dirty="0"/>
          </a:p>
        </p:txBody>
      </p:sp>
      <p:sp>
        <p:nvSpPr>
          <p:cNvPr id="3" name="Text 1"/>
          <p:cNvSpPr/>
          <p:nvPr/>
        </p:nvSpPr>
        <p:spPr>
          <a:xfrm>
            <a:off x="609600" y="1236787"/>
            <a:ext cx="7924800" cy="922604"/>
          </a:xfrm>
          <a:prstGeom prst="rect">
            <a:avLst/>
          </a:prstGeom>
          <a:noFill/>
          <a:ln/>
        </p:spPr>
        <p:txBody>
          <a:bodyPr wrap="square" lIns="0" tIns="0" rIns="0" bIns="0" rtlCol="0" anchor="t"/>
          <a:lstStyle/>
          <a:p>
            <a:pPr marL="0" indent="0">
              <a:lnSpc>
                <a:spcPts val="2880"/>
              </a:lnSpc>
              <a:buNone/>
            </a:pPr>
            <a:r>
              <a:rPr lang="en-US" sz="1600" dirty="0">
                <a:latin typeface="Georgia" panose="02040502050405020303" pitchFamily="18" charset="0"/>
                <a:ea typeface="Verdana" pitchFamily="34" charset="-122"/>
                <a:cs typeface="Verdana" pitchFamily="34" charset="-120"/>
              </a:rPr>
              <a:t>Examines if count of 1s and 0s is approximately equal. Maps bits to ±1 and calculates normalized sum.</a:t>
            </a:r>
            <a:endParaRPr lang="en-US" sz="1600" dirty="0">
              <a:latin typeface="Georgia" panose="02040502050405020303" pitchFamily="18" charset="0"/>
            </a:endParaRPr>
          </a:p>
        </p:txBody>
      </p:sp>
      <p:sp>
        <p:nvSpPr>
          <p:cNvPr id="4" name="Text 2"/>
          <p:cNvSpPr/>
          <p:nvPr/>
        </p:nvSpPr>
        <p:spPr>
          <a:xfrm>
            <a:off x="609600" y="2250832"/>
            <a:ext cx="8083296" cy="461302"/>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s = 2·Σ(bits) - n</a:t>
            </a:r>
            <a:r>
              <a:rPr lang="en-US" sz="1600" dirty="0">
                <a:latin typeface="Georgia" panose="02040502050405020303" pitchFamily="18" charset="0"/>
                <a:ea typeface="Verdana" pitchFamily="34" charset="-122"/>
                <a:cs typeface="Verdana" pitchFamily="34" charset="-120"/>
              </a:rPr>
              <a:t> → Normalized: s_obs = |s| / √n</a:t>
            </a:r>
            <a:endParaRPr lang="en-US" sz="1600" dirty="0">
              <a:latin typeface="Georgia" panose="02040502050405020303" pitchFamily="18" charset="0"/>
            </a:endParaRPr>
          </a:p>
        </p:txBody>
      </p:sp>
      <p:sp>
        <p:nvSpPr>
          <p:cNvPr id="5" name="Text 3"/>
          <p:cNvSpPr/>
          <p:nvPr/>
        </p:nvSpPr>
        <p:spPr>
          <a:xfrm>
            <a:off x="609600" y="3147058"/>
            <a:ext cx="8083296" cy="461302"/>
          </a:xfrm>
          <a:prstGeom prst="rect">
            <a:avLst/>
          </a:prstGeom>
          <a:noFill/>
          <a:ln/>
        </p:spPr>
        <p:txBody>
          <a:bodyPr wrap="square" lIns="0" tIns="0" rIns="0" bIns="0" rtlCol="0" anchor="t"/>
          <a:lstStyle/>
          <a:p>
            <a:pPr marL="0" indent="0">
              <a:lnSpc>
                <a:spcPts val="2880"/>
              </a:lnSpc>
              <a:buNone/>
            </a:pPr>
            <a:r>
              <a:rPr lang="en-US" sz="1600" b="1" dirty="0">
                <a:latin typeface="Georgia" panose="02040502050405020303" pitchFamily="18" charset="0"/>
                <a:ea typeface="Verdana" pitchFamily="34" charset="-122"/>
                <a:cs typeface="Verdana" pitchFamily="34" charset="-120"/>
              </a:rPr>
              <a:t>p-value = erfc(s_obs / √2)</a:t>
            </a:r>
            <a:r>
              <a:rPr lang="en-US" sz="1600" dirty="0">
                <a:latin typeface="Georgia" panose="02040502050405020303" pitchFamily="18" charset="0"/>
                <a:ea typeface="Verdana" pitchFamily="34" charset="-122"/>
                <a:cs typeface="Verdana" pitchFamily="34" charset="-120"/>
              </a:rPr>
              <a:t> Using complementary error function</a:t>
            </a:r>
            <a:endParaRPr lang="en-US" sz="1600" dirty="0">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anose="02040502050405020303" pitchFamily="18" charset="0"/>
                <a:ea typeface="Arial" pitchFamily="34" charset="-122"/>
                <a:cs typeface="Arial" pitchFamily="34" charset="-120"/>
              </a:rPr>
              <a:t>Monobit (Frequency) Test: Purpose</a:t>
            </a:r>
            <a:endParaRPr lang="en-US" sz="2700" dirty="0">
              <a:latin typeface="Georgia" panose="02040502050405020303" pitchFamily="18" charset="0"/>
            </a:endParaRPr>
          </a:p>
        </p:txBody>
      </p:sp>
      <p:sp>
        <p:nvSpPr>
          <p:cNvPr id="3" name="Text 1"/>
          <p:cNvSpPr/>
          <p:nvPr/>
        </p:nvSpPr>
        <p:spPr>
          <a:xfrm>
            <a:off x="762000" y="1312984"/>
            <a:ext cx="7620000" cy="2000250"/>
          </a:xfrm>
          <a:prstGeom prst="rect">
            <a:avLst/>
          </a:prstGeom>
          <a:noFill/>
          <a:ln/>
        </p:spPr>
        <p:txBody>
          <a:bodyPr wrap="square" lIns="0" tIns="0" rIns="0" bIns="0" rtlCol="0" anchor="t"/>
          <a:lstStyle/>
          <a:p>
            <a:pPr marL="342900" indent="-342900">
              <a:lnSpc>
                <a:spcPts val="3240"/>
              </a:lnSpc>
              <a:buSzPct val="100000"/>
              <a:buChar char="•"/>
            </a:pPr>
            <a:r>
              <a:rPr lang="en-US" sz="1600" dirty="0">
                <a:latin typeface="Georgia" panose="02040502050405020303" pitchFamily="18" charset="0"/>
                <a:ea typeface="Arial" pitchFamily="34" charset="-122"/>
                <a:cs typeface="Arial" pitchFamily="34" charset="-120"/>
              </a:rPr>
              <a:t>Validates </a:t>
            </a:r>
            <a:r>
              <a:rPr lang="en-US" sz="1600" b="1" dirty="0">
                <a:latin typeface="Georgia" panose="02040502050405020303" pitchFamily="18" charset="0"/>
                <a:ea typeface="Arial" pitchFamily="34" charset="-122"/>
                <a:cs typeface="Arial" pitchFamily="34" charset="-120"/>
              </a:rPr>
              <a:t>unbiased distribution</a:t>
            </a:r>
            <a:r>
              <a:rPr lang="en-US" sz="1600" dirty="0">
                <a:latin typeface="Georgia" panose="02040502050405020303" pitchFamily="18" charset="0"/>
                <a:ea typeface="Arial" pitchFamily="34" charset="-122"/>
                <a:cs typeface="Arial" pitchFamily="34" charset="-120"/>
              </a:rPr>
              <a:t> of 0s and 1s</a:t>
            </a:r>
            <a:endParaRPr lang="en-US" sz="1600" dirty="0">
              <a:latin typeface="Georgia" panose="02040502050405020303" pitchFamily="18" charset="0"/>
            </a:endParaRPr>
          </a:p>
          <a:p>
            <a:pPr marL="342900" indent="-342900">
              <a:lnSpc>
                <a:spcPts val="3240"/>
              </a:lnSpc>
              <a:buSzPct val="100000"/>
              <a:buChar char="•"/>
            </a:pPr>
            <a:r>
              <a:rPr lang="en-US" sz="1600" dirty="0">
                <a:latin typeface="Georgia" panose="02040502050405020303" pitchFamily="18" charset="0"/>
                <a:ea typeface="Arial" pitchFamily="34" charset="-122"/>
                <a:cs typeface="Arial" pitchFamily="34" charset="-120"/>
              </a:rPr>
              <a:t>Maps bits to ±1, calculates normalized sum</a:t>
            </a:r>
            <a:endParaRPr lang="en-US" sz="1600" dirty="0">
              <a:latin typeface="Georgia" panose="02040502050405020303" pitchFamily="18" charset="0"/>
            </a:endParaRPr>
          </a:p>
          <a:p>
            <a:pPr marL="342900" indent="-342900">
              <a:lnSpc>
                <a:spcPts val="3240"/>
              </a:lnSpc>
              <a:buSzPct val="100000"/>
              <a:buChar char="•"/>
            </a:pPr>
            <a:r>
              <a:rPr lang="en-US" sz="1600" dirty="0">
                <a:latin typeface="Georgia" panose="02040502050405020303" pitchFamily="18" charset="0"/>
                <a:ea typeface="Arial" pitchFamily="34" charset="-122"/>
                <a:cs typeface="Arial" pitchFamily="34" charset="-120"/>
              </a:rPr>
              <a:t>Detects if sequence tends toward 0s or 1s</a:t>
            </a:r>
            <a:endParaRPr lang="en-US" sz="1600" dirty="0">
              <a:latin typeface="Georgia" panose="02040502050405020303" pitchFamily="18" charset="0"/>
            </a:endParaRPr>
          </a:p>
          <a:p>
            <a:pPr marL="342900" indent="-342900">
              <a:lnSpc>
                <a:spcPts val="3240"/>
              </a:lnSpc>
              <a:buSzPct val="100000"/>
              <a:buChar char="•"/>
            </a:pPr>
            <a:r>
              <a:rPr lang="en-US" sz="1600" dirty="0">
                <a:latin typeface="Georgia" panose="02040502050405020303" pitchFamily="18" charset="0"/>
                <a:ea typeface="Arial" pitchFamily="34" charset="-122"/>
                <a:cs typeface="Arial" pitchFamily="34" charset="-120"/>
              </a:rPr>
              <a:t>Mathematical rigor using complementary error function</a:t>
            </a:r>
            <a:endParaRPr lang="en-US" sz="1600" dirty="0">
              <a:latin typeface="Georgia" panose="02040502050405020303" pitchFamily="18" charset="0"/>
            </a:endParaRPr>
          </a:p>
          <a:p>
            <a:pPr marL="342900" indent="-342900">
              <a:lnSpc>
                <a:spcPts val="3240"/>
              </a:lnSpc>
              <a:buSzPct val="100000"/>
              <a:buChar char="•"/>
            </a:pPr>
            <a:r>
              <a:rPr lang="en-US" sz="1600" dirty="0">
                <a:latin typeface="Georgia" panose="02040502050405020303" pitchFamily="18" charset="0"/>
                <a:ea typeface="Arial" pitchFamily="34" charset="-122"/>
                <a:cs typeface="Arial" pitchFamily="34" charset="-120"/>
              </a:rPr>
              <a:t>Industry standard: First test in NIST validation suite</a:t>
            </a:r>
            <a:endParaRPr lang="en-US" sz="1600" dirty="0">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2">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609600" y="1173482"/>
            <a:ext cx="7924800" cy="2371576"/>
          </a:xfrm>
          <a:prstGeom prst="rect">
            <a:avLst/>
          </a:prstGeom>
          <a:solidFill>
            <a:srgbClr val="1E293B"/>
          </a:solidFill>
          <a:ln/>
        </p:spPr>
        <p:txBody>
          <a:bodyPr wrap="none" lIns="0" tIns="0" rIns="0" bIns="0" rtlCol="0" anchor="ctr">
            <a:normAutofit/>
          </a:bodyPr>
          <a:lstStyle/>
          <a:p>
            <a:pPr marL="0" indent="0">
              <a:buNone/>
            </a:pPr>
            <a:endParaRPr lang="en-US" dirty="0"/>
          </a:p>
        </p:txBody>
      </p:sp>
      <p:sp>
        <p:nvSpPr>
          <p:cNvPr id="3" name="Text 1"/>
          <p:cNvSpPr/>
          <p:nvPr/>
        </p:nvSpPr>
        <p:spPr>
          <a:xfrm>
            <a:off x="609600" y="609600"/>
            <a:ext cx="8083296" cy="411480"/>
          </a:xfrm>
          <a:prstGeom prst="rect">
            <a:avLst/>
          </a:prstGeom>
          <a:noFill/>
          <a:ln/>
        </p:spPr>
        <p:txBody>
          <a:bodyPr wrap="square" lIns="0" tIns="0" rIns="0" bIns="0" rtlCol="0" anchor="t"/>
          <a:lstStyle/>
          <a:p>
            <a:pPr marL="0" indent="0">
              <a:lnSpc>
                <a:spcPts val="4320"/>
              </a:lnSpc>
              <a:buNone/>
            </a:pPr>
            <a:r>
              <a:rPr lang="en-US" sz="2700" b="1" dirty="0">
                <a:solidFill>
                  <a:srgbClr val="38BDF8"/>
                </a:solidFill>
                <a:latin typeface="Georgia" pitchFamily="34" charset="0"/>
                <a:ea typeface="Georgia" pitchFamily="34" charset="-122"/>
                <a:cs typeface="Georgia" pitchFamily="34" charset="-120"/>
              </a:rPr>
              <a:t>Monobit Test Implementation</a:t>
            </a:r>
            <a:endParaRPr lang="en-US" sz="2700" dirty="0"/>
          </a:p>
        </p:txBody>
      </p:sp>
      <p:sp>
        <p:nvSpPr>
          <p:cNvPr id="4" name="Text 2"/>
          <p:cNvSpPr/>
          <p:nvPr/>
        </p:nvSpPr>
        <p:spPr>
          <a:xfrm>
            <a:off x="609600" y="1173482"/>
            <a:ext cx="7924800" cy="2057400"/>
          </a:xfrm>
          <a:prstGeom prst="rect">
            <a:avLst/>
          </a:prstGeom>
          <a:noFill/>
          <a:ln/>
        </p:spPr>
        <p:txBody>
          <a:bodyPr wrap="square" lIns="0" tIns="0" rIns="0" bIns="0" rtlCol="0" anchor="t"/>
          <a:lstStyle/>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def monobit_test(bits):</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n = len(bits)</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s = 2 * np.sum(bits) - n</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s_obs = abs(s) / np.sqrt(n)</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p_value = np.math.erfc(s_obs / np.sqrt(2))</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return p_value</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a:t>
            </a:r>
            <a:endParaRPr lang="en-US" sz="1050" dirty="0"/>
          </a:p>
          <a:p>
            <a:pPr marL="0" indent="0">
              <a:lnSpc>
                <a:spcPts val="2100"/>
              </a:lnSpc>
              <a:buNone/>
            </a:pPr>
            <a:r>
              <a:rPr lang="en-US" sz="1050" dirty="0">
                <a:solidFill>
                  <a:srgbClr val="CBD5E1"/>
                </a:solidFill>
                <a:latin typeface="Courier New" pitchFamily="34" charset="0"/>
                <a:ea typeface="Courier New" pitchFamily="34" charset="-122"/>
                <a:cs typeface="Courier New" pitchFamily="34" charset="-120"/>
              </a:rPr>
              <a:t> quantum_monobit_p = monobit_test(random_bits)</a:t>
            </a:r>
            <a:endParaRPr lang="en-US" sz="1050" dirty="0"/>
          </a:p>
        </p:txBody>
      </p:sp>
      <p:pic>
        <p:nvPicPr>
          <p:cNvPr id="6" name="Picture 5">
            <a:extLst>
              <a:ext uri="{FF2B5EF4-FFF2-40B4-BE49-F238E27FC236}">
                <a16:creationId xmlns:a16="http://schemas.microsoft.com/office/drawing/2014/main" id="{EE30409D-E2B7-FD9B-DA52-BF4B68854FD5}"/>
              </a:ext>
            </a:extLst>
          </p:cNvPr>
          <p:cNvPicPr>
            <a:picLocks noChangeAspect="1"/>
          </p:cNvPicPr>
          <p:nvPr/>
        </p:nvPicPr>
        <p:blipFill>
          <a:blip r:embed="rId3"/>
          <a:stretch>
            <a:fillRect/>
          </a:stretch>
        </p:blipFill>
        <p:spPr>
          <a:xfrm>
            <a:off x="609600" y="3697460"/>
            <a:ext cx="5549896" cy="8364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chemeClr val="bg1">
            <a:alpha val="0"/>
          </a:schemeClr>
        </a:solidFill>
        <a:effectLst/>
      </p:bgPr>
    </p:bg>
    <p:spTree>
      <p:nvGrpSpPr>
        <p:cNvPr id="1" name=""/>
        <p:cNvGrpSpPr/>
        <p:nvPr/>
      </p:nvGrpSpPr>
      <p:grpSpPr>
        <a:xfrm>
          <a:off x="0" y="0"/>
          <a:ext cx="0" cy="0"/>
          <a:chOff x="0" y="0"/>
          <a:chExt cx="0" cy="0"/>
        </a:xfrm>
      </p:grpSpPr>
      <p:sp>
        <p:nvSpPr>
          <p:cNvPr id="2" name="Text 0"/>
          <p:cNvSpPr/>
          <p:nvPr/>
        </p:nvSpPr>
        <p:spPr>
          <a:xfrm>
            <a:off x="3744194" y="222799"/>
            <a:ext cx="1795773" cy="411480"/>
          </a:xfrm>
          <a:prstGeom prst="rect">
            <a:avLst/>
          </a:prstGeom>
          <a:noFill/>
          <a:ln/>
        </p:spPr>
        <p:txBody>
          <a:bodyPr wrap="square" lIns="0" tIns="0" rIns="0" bIns="0" rtlCol="0" anchor="t"/>
          <a:lstStyle/>
          <a:p>
            <a:pPr marL="0" indent="0" algn="ctr">
              <a:lnSpc>
                <a:spcPts val="4320"/>
              </a:lnSpc>
              <a:buNone/>
            </a:pPr>
            <a:r>
              <a:rPr lang="en-US" sz="2700" b="1" dirty="0">
                <a:solidFill>
                  <a:srgbClr val="38BDF8"/>
                </a:solidFill>
                <a:latin typeface="Georgia" pitchFamily="34" charset="0"/>
                <a:ea typeface="Georgia" pitchFamily="34" charset="-122"/>
                <a:cs typeface="Georgia" pitchFamily="34" charset="-120"/>
              </a:rPr>
              <a:t>Results</a:t>
            </a:r>
            <a:endParaRPr lang="en-US" sz="2700" dirty="0"/>
          </a:p>
        </p:txBody>
      </p:sp>
      <p:sp>
        <p:nvSpPr>
          <p:cNvPr id="4" name="Text 2"/>
          <p:cNvSpPr/>
          <p:nvPr/>
        </p:nvSpPr>
        <p:spPr>
          <a:xfrm>
            <a:off x="876300" y="2133600"/>
            <a:ext cx="7578090" cy="243840"/>
          </a:xfrm>
          <a:prstGeom prst="rect">
            <a:avLst/>
          </a:prstGeom>
          <a:noFill/>
          <a:ln/>
        </p:spPr>
        <p:txBody>
          <a:bodyPr wrap="square" lIns="0" tIns="0" rIns="0" bIns="0" rtlCol="0" anchor="t"/>
          <a:lstStyle/>
          <a:p>
            <a:pPr marL="0" indent="0">
              <a:lnSpc>
                <a:spcPts val="2560"/>
              </a:lnSpc>
              <a:buNone/>
            </a:pPr>
            <a:endParaRPr lang="en-US" sz="1200" dirty="0"/>
          </a:p>
        </p:txBody>
      </p:sp>
      <p:sp>
        <p:nvSpPr>
          <p:cNvPr id="5" name="Text 3"/>
          <p:cNvSpPr/>
          <p:nvPr/>
        </p:nvSpPr>
        <p:spPr>
          <a:xfrm>
            <a:off x="876300" y="2453641"/>
            <a:ext cx="7578090" cy="243840"/>
          </a:xfrm>
          <a:prstGeom prst="rect">
            <a:avLst/>
          </a:prstGeom>
          <a:noFill/>
          <a:ln/>
        </p:spPr>
        <p:txBody>
          <a:bodyPr wrap="square" lIns="0" tIns="0" rIns="0" bIns="0" rtlCol="0" anchor="t"/>
          <a:lstStyle/>
          <a:p>
            <a:pPr marL="0" indent="0">
              <a:lnSpc>
                <a:spcPts val="2560"/>
              </a:lnSpc>
              <a:buNone/>
            </a:pPr>
            <a:endParaRPr lang="en-US" sz="1200" dirty="0"/>
          </a:p>
        </p:txBody>
      </p:sp>
      <p:sp>
        <p:nvSpPr>
          <p:cNvPr id="7" name="Text 5"/>
          <p:cNvSpPr/>
          <p:nvPr/>
        </p:nvSpPr>
        <p:spPr>
          <a:xfrm>
            <a:off x="876300" y="3499010"/>
            <a:ext cx="7578090" cy="274320"/>
          </a:xfrm>
          <a:prstGeom prst="rect">
            <a:avLst/>
          </a:prstGeom>
          <a:noFill/>
          <a:ln/>
        </p:spPr>
        <p:txBody>
          <a:bodyPr wrap="square" lIns="0" tIns="0" rIns="0" bIns="0" rtlCol="0" anchor="t"/>
          <a:lstStyle/>
          <a:p>
            <a:pPr marL="0" indent="0">
              <a:lnSpc>
                <a:spcPts val="2880"/>
              </a:lnSpc>
              <a:buNone/>
            </a:pPr>
            <a:endParaRPr lang="en-US" sz="1800" dirty="0"/>
          </a:p>
        </p:txBody>
      </p:sp>
      <p:sp>
        <p:nvSpPr>
          <p:cNvPr id="8" name="Text 6"/>
          <p:cNvSpPr/>
          <p:nvPr/>
        </p:nvSpPr>
        <p:spPr>
          <a:xfrm>
            <a:off x="876300" y="3925728"/>
            <a:ext cx="7578090" cy="243840"/>
          </a:xfrm>
          <a:prstGeom prst="rect">
            <a:avLst/>
          </a:prstGeom>
          <a:noFill/>
          <a:ln/>
        </p:spPr>
        <p:txBody>
          <a:bodyPr wrap="square" lIns="0" tIns="0" rIns="0" bIns="0" rtlCol="0" anchor="t"/>
          <a:lstStyle/>
          <a:p>
            <a:pPr marL="0" indent="0">
              <a:lnSpc>
                <a:spcPts val="2560"/>
              </a:lnSpc>
              <a:buNone/>
            </a:pPr>
            <a:endParaRPr lang="en-US" sz="1200" dirty="0"/>
          </a:p>
        </p:txBody>
      </p:sp>
      <p:sp>
        <p:nvSpPr>
          <p:cNvPr id="9" name="Text 7"/>
          <p:cNvSpPr/>
          <p:nvPr/>
        </p:nvSpPr>
        <p:spPr>
          <a:xfrm>
            <a:off x="876300" y="4245769"/>
            <a:ext cx="7578090" cy="243840"/>
          </a:xfrm>
          <a:prstGeom prst="rect">
            <a:avLst/>
          </a:prstGeom>
          <a:noFill/>
          <a:ln/>
        </p:spPr>
        <p:txBody>
          <a:bodyPr wrap="square" lIns="0" tIns="0" rIns="0" bIns="0" rtlCol="0" anchor="t"/>
          <a:lstStyle/>
          <a:p>
            <a:pPr marL="0" indent="0">
              <a:lnSpc>
                <a:spcPts val="2560"/>
              </a:lnSpc>
              <a:buNone/>
            </a:pPr>
            <a:endParaRPr lang="en-US" sz="1200" dirty="0"/>
          </a:p>
        </p:txBody>
      </p:sp>
      <p:sp>
        <p:nvSpPr>
          <p:cNvPr id="10" name="Text 8"/>
          <p:cNvSpPr/>
          <p:nvPr/>
        </p:nvSpPr>
        <p:spPr>
          <a:xfrm>
            <a:off x="876300" y="4565810"/>
            <a:ext cx="7578090" cy="268129"/>
          </a:xfrm>
          <a:prstGeom prst="rect">
            <a:avLst/>
          </a:prstGeom>
          <a:noFill/>
          <a:ln/>
        </p:spPr>
        <p:txBody>
          <a:bodyPr wrap="square" lIns="0" tIns="0" rIns="0" bIns="0" rtlCol="0" anchor="t"/>
          <a:lstStyle/>
          <a:p>
            <a:pPr marL="0" indent="0">
              <a:lnSpc>
                <a:spcPts val="2816"/>
              </a:lnSpc>
              <a:buNone/>
            </a:pPr>
            <a:endParaRPr lang="en-US" sz="1320" dirty="0"/>
          </a:p>
        </p:txBody>
      </p:sp>
      <p:sp>
        <p:nvSpPr>
          <p:cNvPr id="12" name="TextBox 11">
            <a:extLst>
              <a:ext uri="{FF2B5EF4-FFF2-40B4-BE49-F238E27FC236}">
                <a16:creationId xmlns:a16="http://schemas.microsoft.com/office/drawing/2014/main" id="{322B955B-153E-E6FF-47C1-B4273923BA67}"/>
              </a:ext>
            </a:extLst>
          </p:cNvPr>
          <p:cNvSpPr txBox="1"/>
          <p:nvPr/>
        </p:nvSpPr>
        <p:spPr>
          <a:xfrm>
            <a:off x="3532227" y="723025"/>
            <a:ext cx="5282418" cy="369332"/>
          </a:xfrm>
          <a:prstGeom prst="rect">
            <a:avLst/>
          </a:prstGeom>
          <a:noFill/>
        </p:spPr>
        <p:txBody>
          <a:bodyPr wrap="square">
            <a:spAutoFit/>
          </a:bodyPr>
          <a:lstStyle/>
          <a:p>
            <a:r>
              <a:rPr lang="en-US" sz="1800" b="1" dirty="0">
                <a:solidFill>
                  <a:srgbClr val="38BDF8"/>
                </a:solidFill>
                <a:latin typeface="Georgia" pitchFamily="34" charset="0"/>
                <a:ea typeface="Georgia" pitchFamily="34" charset="-122"/>
                <a:cs typeface="Georgia" pitchFamily="34" charset="-120"/>
              </a:rPr>
              <a:t>Chi-Square Test</a:t>
            </a:r>
            <a:endParaRPr lang="en-US" dirty="0"/>
          </a:p>
        </p:txBody>
      </p:sp>
      <p:sp>
        <p:nvSpPr>
          <p:cNvPr id="14" name="TextBox 13">
            <a:extLst>
              <a:ext uri="{FF2B5EF4-FFF2-40B4-BE49-F238E27FC236}">
                <a16:creationId xmlns:a16="http://schemas.microsoft.com/office/drawing/2014/main" id="{E9F45F72-3785-9B00-657C-6B04F07D55AA}"/>
              </a:ext>
            </a:extLst>
          </p:cNvPr>
          <p:cNvSpPr txBox="1"/>
          <p:nvPr/>
        </p:nvSpPr>
        <p:spPr>
          <a:xfrm>
            <a:off x="3744194" y="3033623"/>
            <a:ext cx="5282418" cy="369332"/>
          </a:xfrm>
          <a:prstGeom prst="rect">
            <a:avLst/>
          </a:prstGeom>
          <a:noFill/>
        </p:spPr>
        <p:txBody>
          <a:bodyPr wrap="square">
            <a:spAutoFit/>
          </a:bodyPr>
          <a:lstStyle/>
          <a:p>
            <a:r>
              <a:rPr lang="en-US" sz="1800" b="1" dirty="0">
                <a:solidFill>
                  <a:srgbClr val="38BDF8"/>
                </a:solidFill>
                <a:latin typeface="Georgia" pitchFamily="34" charset="0"/>
                <a:ea typeface="Georgia" pitchFamily="34" charset="-122"/>
                <a:cs typeface="Georgia" pitchFamily="34" charset="-120"/>
              </a:rPr>
              <a:t>Monobit Test</a:t>
            </a:r>
            <a:endParaRPr lang="en-US" dirty="0"/>
          </a:p>
        </p:txBody>
      </p:sp>
      <p:sp>
        <p:nvSpPr>
          <p:cNvPr id="15" name="Text 2">
            <a:extLst>
              <a:ext uri="{FF2B5EF4-FFF2-40B4-BE49-F238E27FC236}">
                <a16:creationId xmlns:a16="http://schemas.microsoft.com/office/drawing/2014/main" id="{B58B57C6-B886-B2AF-3E30-47AFE1ED2F04}"/>
              </a:ext>
            </a:extLst>
          </p:cNvPr>
          <p:cNvSpPr/>
          <p:nvPr/>
        </p:nvSpPr>
        <p:spPr>
          <a:xfrm>
            <a:off x="4572000" y="2101944"/>
            <a:ext cx="7578090" cy="678182"/>
          </a:xfrm>
          <a:prstGeom prst="rect">
            <a:avLst/>
          </a:prstGeom>
          <a:noFill/>
          <a:ln/>
        </p:spPr>
        <p:txBody>
          <a:bodyPr wrap="square" lIns="0" tIns="0" rIns="0" bIns="0" rtlCol="0" anchor="t"/>
          <a:lstStyle/>
          <a:p>
            <a:pPr marL="0" indent="0">
              <a:lnSpc>
                <a:spcPts val="2560"/>
              </a:lnSpc>
              <a:buNone/>
            </a:pPr>
            <a:endParaRPr lang="en-US" sz="1200" dirty="0"/>
          </a:p>
        </p:txBody>
      </p:sp>
      <p:graphicFrame>
        <p:nvGraphicFramePr>
          <p:cNvPr id="23" name="Table 22">
            <a:extLst>
              <a:ext uri="{FF2B5EF4-FFF2-40B4-BE49-F238E27FC236}">
                <a16:creationId xmlns:a16="http://schemas.microsoft.com/office/drawing/2014/main" id="{4D4D022E-0FD6-9FCE-BE5B-3497748B3EC7}"/>
              </a:ext>
            </a:extLst>
          </p:cNvPr>
          <p:cNvGraphicFramePr>
            <a:graphicFrameLocks noGrp="1"/>
          </p:cNvGraphicFramePr>
          <p:nvPr>
            <p:extLst>
              <p:ext uri="{D42A27DB-BD31-4B8C-83A1-F6EECF244321}">
                <p14:modId xmlns:p14="http://schemas.microsoft.com/office/powerpoint/2010/main" val="770947800"/>
              </p:ext>
            </p:extLst>
          </p:nvPr>
        </p:nvGraphicFramePr>
        <p:xfrm>
          <a:off x="1923824" y="1092357"/>
          <a:ext cx="5483042" cy="1806184"/>
        </p:xfrm>
        <a:graphic>
          <a:graphicData uri="http://schemas.openxmlformats.org/drawingml/2006/table">
            <a:tbl>
              <a:tblPr firstRow="1" bandRow="1">
                <a:tableStyleId>{2D5ABB26-0587-4C30-8999-92F81FD0307C}</a:tableStyleId>
              </a:tblPr>
              <a:tblGrid>
                <a:gridCol w="2741521">
                  <a:extLst>
                    <a:ext uri="{9D8B030D-6E8A-4147-A177-3AD203B41FA5}">
                      <a16:colId xmlns:a16="http://schemas.microsoft.com/office/drawing/2014/main" val="3663842479"/>
                    </a:ext>
                  </a:extLst>
                </a:gridCol>
                <a:gridCol w="2741521">
                  <a:extLst>
                    <a:ext uri="{9D8B030D-6E8A-4147-A177-3AD203B41FA5}">
                      <a16:colId xmlns:a16="http://schemas.microsoft.com/office/drawing/2014/main" val="1218357094"/>
                    </a:ext>
                  </a:extLst>
                </a:gridCol>
              </a:tblGrid>
              <a:tr h="3431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Quantum RNG</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Classical RNG</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5566577"/>
                  </a:ext>
                </a:extLst>
              </a:tr>
              <a:tr h="214339">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Statistic:</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0.004</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Statistic:</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0.484</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252551"/>
                  </a:ext>
                </a:extLst>
              </a:tr>
              <a:tr h="3431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p-value:</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0.9495709711511051</a:t>
                      </a:r>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p-value:</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0.4866160457640505</a:t>
                      </a:r>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6189624"/>
                  </a:ext>
                </a:extLst>
              </a:tr>
              <a:tr h="343144">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PASS</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 PASS </a:t>
                      </a:r>
                      <a:endParaRPr lang="en-US" sz="1400" dirty="0">
                        <a:solidFill>
                          <a:schemeClr val="tx1"/>
                        </a:solidFill>
                        <a:latin typeface="Georgia" panose="02040502050405020303" pitchFamily="18" charset="0"/>
                      </a:endParaRPr>
                    </a:p>
                    <a:p>
                      <a:endParaRPr lang="en-US" sz="1200"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0401679"/>
                  </a:ext>
                </a:extLst>
              </a:tr>
            </a:tbl>
          </a:graphicData>
        </a:graphic>
      </p:graphicFrame>
      <p:graphicFrame>
        <p:nvGraphicFramePr>
          <p:cNvPr id="24" name="Table 23">
            <a:extLst>
              <a:ext uri="{FF2B5EF4-FFF2-40B4-BE49-F238E27FC236}">
                <a16:creationId xmlns:a16="http://schemas.microsoft.com/office/drawing/2014/main" id="{5975327A-234D-B1BB-A6AB-58D66C7318C6}"/>
              </a:ext>
            </a:extLst>
          </p:cNvPr>
          <p:cNvGraphicFramePr>
            <a:graphicFrameLocks noGrp="1"/>
          </p:cNvGraphicFramePr>
          <p:nvPr>
            <p:extLst>
              <p:ext uri="{D42A27DB-BD31-4B8C-83A1-F6EECF244321}">
                <p14:modId xmlns:p14="http://schemas.microsoft.com/office/powerpoint/2010/main" val="1960971987"/>
              </p:ext>
            </p:extLst>
          </p:nvPr>
        </p:nvGraphicFramePr>
        <p:xfrm>
          <a:off x="1859863" y="3403766"/>
          <a:ext cx="5610964" cy="1648460"/>
        </p:xfrm>
        <a:graphic>
          <a:graphicData uri="http://schemas.openxmlformats.org/drawingml/2006/table">
            <a:tbl>
              <a:tblPr firstRow="1" bandRow="1">
                <a:tableStyleId>{2D5ABB26-0587-4C30-8999-92F81FD0307C}</a:tableStyleId>
              </a:tblPr>
              <a:tblGrid>
                <a:gridCol w="2805482">
                  <a:extLst>
                    <a:ext uri="{9D8B030D-6E8A-4147-A177-3AD203B41FA5}">
                      <a16:colId xmlns:a16="http://schemas.microsoft.com/office/drawing/2014/main" val="3663842479"/>
                    </a:ext>
                  </a:extLst>
                </a:gridCol>
                <a:gridCol w="2805482">
                  <a:extLst>
                    <a:ext uri="{9D8B030D-6E8A-4147-A177-3AD203B41FA5}">
                      <a16:colId xmlns:a16="http://schemas.microsoft.com/office/drawing/2014/main" val="1218357094"/>
                    </a:ext>
                  </a:extLst>
                </a:gridCol>
              </a:tblGrid>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Quantum RNG</a:t>
                      </a:r>
                      <a:endParaRPr lang="en-US" sz="1400" dirty="0">
                        <a:solidFill>
                          <a:schemeClr val="tx1"/>
                        </a:solidFill>
                        <a:latin typeface="Georgia" panose="02040502050405020303" pitchFamily="18" charset="0"/>
                      </a:endParaRPr>
                    </a:p>
                    <a:p>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Classical RNG</a:t>
                      </a:r>
                      <a:endParaRPr lang="en-US" sz="1400" dirty="0">
                        <a:solidFill>
                          <a:schemeClr val="tx1"/>
                        </a:solidFill>
                        <a:latin typeface="Georgia" panose="02040502050405020303" pitchFamily="18" charset="0"/>
                      </a:endParaRPr>
                    </a:p>
                    <a:p>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95566577"/>
                  </a:ext>
                </a:extLst>
              </a:tr>
              <a:tr h="370840">
                <a:tc>
                  <a:txBody>
                    <a:bodyPr/>
                    <a:lstStyle/>
                    <a:p>
                      <a:pPr marL="0" indent="0">
                        <a:lnSpc>
                          <a:spcPts val="2560"/>
                        </a:lnSpc>
                        <a:buNone/>
                      </a:pPr>
                      <a:r>
                        <a:rPr lang="en-US" sz="1400" b="1" dirty="0">
                          <a:solidFill>
                            <a:schemeClr val="tx1"/>
                          </a:solidFill>
                          <a:latin typeface="Georgia" panose="02040502050405020303" pitchFamily="18" charset="0"/>
                        </a:rPr>
                        <a:t>p-value:</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0.9495709711511051</a:t>
                      </a:r>
                      <a:endParaRPr lang="en-US" sz="1400" dirty="0">
                        <a:solidFill>
                          <a:schemeClr val="tx1"/>
                        </a:solidFill>
                        <a:latin typeface="Georgia" panose="02040502050405020303" pitchFamily="18" charset="0"/>
                      </a:endParaRPr>
                    </a:p>
                    <a:p>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nSpc>
                          <a:spcPts val="2560"/>
                        </a:lnSpc>
                        <a:buNone/>
                      </a:pPr>
                      <a:r>
                        <a:rPr lang="en-US" sz="1400" b="1" dirty="0">
                          <a:solidFill>
                            <a:schemeClr val="tx1"/>
                          </a:solidFill>
                          <a:latin typeface="Georgia" panose="02040502050405020303" pitchFamily="18" charset="0"/>
                        </a:rPr>
                        <a:t>p-value:</a:t>
                      </a:r>
                      <a:r>
                        <a:rPr lang="en-US" sz="1400" dirty="0">
                          <a:solidFill>
                            <a:schemeClr val="tx1"/>
                          </a:solidFill>
                          <a:latin typeface="Georgia" panose="02040502050405020303" pitchFamily="18" charset="0"/>
                        </a:rPr>
                        <a:t> </a:t>
                      </a:r>
                      <a:r>
                        <a:rPr lang="en-US" sz="1350" b="0" i="0" kern="1200" dirty="0">
                          <a:solidFill>
                            <a:schemeClr val="tx1"/>
                          </a:solidFill>
                          <a:effectLst/>
                          <a:latin typeface="Georgia" panose="02040502050405020303" pitchFamily="18" charset="0"/>
                          <a:ea typeface="+mn-ea"/>
                          <a:cs typeface="+mn-cs"/>
                        </a:rPr>
                        <a:t>0.4866160457640506</a:t>
                      </a:r>
                      <a:endParaRPr lang="en-US" sz="1400" dirty="0">
                        <a:solidFill>
                          <a:schemeClr val="tx1"/>
                        </a:solidFill>
                        <a:latin typeface="Georgia" panose="02040502050405020303" pitchFamily="18" charset="0"/>
                      </a:endParaRPr>
                    </a:p>
                    <a:p>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75252551"/>
                  </a:ext>
                </a:extLst>
              </a:tr>
              <a:tr h="370840">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PASS</a:t>
                      </a:r>
                      <a:endParaRPr lang="en-US" sz="1400" dirty="0">
                        <a:solidFill>
                          <a:schemeClr val="tx1"/>
                        </a:solidFill>
                        <a:latin typeface="Georgia" panose="02040502050405020303" pitchFamily="18" charset="0"/>
                      </a:endParaRPr>
                    </a:p>
                    <a:p>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sz="1400" b="1" dirty="0">
                          <a:solidFill>
                            <a:schemeClr val="tx1"/>
                          </a:solidFill>
                          <a:latin typeface="Georgia" panose="02040502050405020303" pitchFamily="18" charset="0"/>
                        </a:rPr>
                        <a:t>PASS</a:t>
                      </a:r>
                      <a:endParaRPr lang="en-US" dirty="0">
                        <a:solidFill>
                          <a:schemeClr val="tx1"/>
                        </a:solidFill>
                        <a:latin typeface="Georgia" panose="02040502050405020303"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50401679"/>
                  </a:ext>
                </a:extLst>
              </a:tr>
            </a:tbl>
          </a:graphicData>
        </a:graphic>
      </p:graphicFrame>
      <p:sp>
        <p:nvSpPr>
          <p:cNvPr id="25" name="Text 5"/>
          <p:cNvSpPr/>
          <p:nvPr/>
        </p:nvSpPr>
        <p:spPr>
          <a:xfrm>
            <a:off x="134095" y="1768776"/>
            <a:ext cx="2331664" cy="320040"/>
          </a:xfrm>
          <a:prstGeom prst="rect">
            <a:avLst/>
          </a:prstGeom>
          <a:noFill/>
          <a:ln/>
        </p:spPr>
        <p:txBody>
          <a:bodyPr wrap="square" lIns="0" tIns="0" rIns="0" bIns="0" rtlCol="0" anchor="t"/>
          <a:lstStyle/>
          <a:p>
            <a:pPr marL="0" indent="0">
              <a:lnSpc>
                <a:spcPts val="3360"/>
              </a:lnSpc>
              <a:buNone/>
            </a:pPr>
            <a:r>
              <a:rPr lang="en-US" sz="1400" b="1" dirty="0">
                <a:solidFill>
                  <a:srgbClr val="38BDF8"/>
                </a:solidFill>
                <a:latin typeface="Georgia" pitchFamily="34" charset="0"/>
                <a:ea typeface="Georgia" pitchFamily="34" charset="-122"/>
                <a:cs typeface="Georgia" pitchFamily="34" charset="-120"/>
              </a:rPr>
              <a:t>Decision Criteria</a:t>
            </a:r>
            <a:endParaRPr lang="en-US" sz="1400" dirty="0"/>
          </a:p>
        </p:txBody>
      </p:sp>
      <p:sp>
        <p:nvSpPr>
          <p:cNvPr id="26" name="Text 6"/>
          <p:cNvSpPr/>
          <p:nvPr/>
        </p:nvSpPr>
        <p:spPr>
          <a:xfrm>
            <a:off x="134095" y="2031198"/>
            <a:ext cx="2331664" cy="243840"/>
          </a:xfrm>
          <a:prstGeom prst="rect">
            <a:avLst/>
          </a:prstGeom>
          <a:noFill/>
          <a:ln/>
        </p:spPr>
        <p:txBody>
          <a:bodyPr wrap="square" lIns="0" tIns="0" rIns="0" bIns="0" rtlCol="0" anchor="t"/>
          <a:lstStyle/>
          <a:p>
            <a:pPr marL="0" indent="0">
              <a:lnSpc>
                <a:spcPts val="2560"/>
              </a:lnSpc>
              <a:buNone/>
            </a:pPr>
            <a:r>
              <a:rPr lang="en-US" sz="1200" dirty="0">
                <a:latin typeface="Verdana" pitchFamily="34" charset="0"/>
                <a:ea typeface="Verdana" pitchFamily="34" charset="-122"/>
                <a:cs typeface="Verdana" pitchFamily="34" charset="-120"/>
              </a:rPr>
              <a:t>p-value &gt; 0.05: </a:t>
            </a:r>
            <a:r>
              <a:rPr lang="en-US" sz="1200" b="1" dirty="0">
                <a:latin typeface="Verdana" pitchFamily="34" charset="0"/>
                <a:ea typeface="Verdana" pitchFamily="34" charset="-122"/>
                <a:cs typeface="Verdana" pitchFamily="34" charset="-120"/>
              </a:rPr>
              <a:t> </a:t>
            </a:r>
            <a:r>
              <a:rPr lang="en-US" sz="1200" b="1" dirty="0">
                <a:solidFill>
                  <a:schemeClr val="accent2"/>
                </a:solidFill>
                <a:latin typeface="Verdana" pitchFamily="34" charset="0"/>
                <a:ea typeface="Verdana" pitchFamily="34" charset="-122"/>
                <a:cs typeface="Verdana" pitchFamily="34" charset="-120"/>
              </a:rPr>
              <a:t>PASS</a:t>
            </a:r>
            <a:endParaRPr lang="en-US" sz="1200" dirty="0">
              <a:solidFill>
                <a:schemeClr val="accent2"/>
              </a:solidFill>
            </a:endParaRPr>
          </a:p>
        </p:txBody>
      </p:sp>
      <p:sp>
        <p:nvSpPr>
          <p:cNvPr id="27" name="Text 7"/>
          <p:cNvSpPr/>
          <p:nvPr/>
        </p:nvSpPr>
        <p:spPr>
          <a:xfrm>
            <a:off x="134095" y="2236002"/>
            <a:ext cx="2331664" cy="243840"/>
          </a:xfrm>
          <a:prstGeom prst="rect">
            <a:avLst/>
          </a:prstGeom>
          <a:noFill/>
          <a:ln/>
        </p:spPr>
        <p:txBody>
          <a:bodyPr wrap="square" lIns="0" tIns="0" rIns="0" bIns="0" rtlCol="0" anchor="t"/>
          <a:lstStyle/>
          <a:p>
            <a:pPr marL="0" indent="0">
              <a:lnSpc>
                <a:spcPts val="2560"/>
              </a:lnSpc>
              <a:buNone/>
            </a:pPr>
            <a:r>
              <a:rPr lang="en-US" sz="1200" dirty="0">
                <a:latin typeface="Verdana" pitchFamily="34" charset="0"/>
                <a:ea typeface="Verdana" pitchFamily="34" charset="-122"/>
                <a:cs typeface="Verdana" pitchFamily="34" charset="-120"/>
              </a:rPr>
              <a:t>p-value &lt; 0.05: </a:t>
            </a:r>
            <a:r>
              <a:rPr lang="en-US" sz="1200" b="1" dirty="0">
                <a:latin typeface="Verdana" pitchFamily="34" charset="0"/>
                <a:ea typeface="Verdana" pitchFamily="34" charset="-122"/>
                <a:cs typeface="Verdana" pitchFamily="34" charset="-120"/>
              </a:rPr>
              <a:t> </a:t>
            </a:r>
            <a:r>
              <a:rPr lang="en-US" sz="1200" b="1" dirty="0">
                <a:solidFill>
                  <a:srgbClr val="FF0000"/>
                </a:solidFill>
                <a:latin typeface="Verdana" pitchFamily="34" charset="0"/>
                <a:ea typeface="Verdana" pitchFamily="34" charset="-122"/>
                <a:cs typeface="Verdana" pitchFamily="34" charset="-120"/>
              </a:rPr>
              <a:t>FAIL</a:t>
            </a:r>
            <a:endParaRPr lang="en-US" sz="1200" dirty="0">
              <a:solidFill>
                <a:srgbClr val="FF0000"/>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a:extLst>
            <a:ext uri="{FF2B5EF4-FFF2-40B4-BE49-F238E27FC236}">
              <a16:creationId xmlns:a16="http://schemas.microsoft.com/office/drawing/2014/main" id="{F53E975B-23F3-5ADE-B1AE-46A3132740ED}"/>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B881FCC-40A7-BE58-56AC-F0A83654B21B}"/>
              </a:ext>
            </a:extLst>
          </p:cNvPr>
          <p:cNvSpPr txBox="1"/>
          <p:nvPr/>
        </p:nvSpPr>
        <p:spPr>
          <a:xfrm>
            <a:off x="313006" y="989320"/>
            <a:ext cx="8517988" cy="2031325"/>
          </a:xfrm>
          <a:prstGeom prst="rect">
            <a:avLst/>
          </a:prstGeom>
          <a:noFill/>
        </p:spPr>
        <p:txBody>
          <a:bodyPr wrap="square">
            <a:spAutoFit/>
          </a:bodyPr>
          <a:lstStyle/>
          <a:p>
            <a:r>
              <a:rPr lang="en-US" b="0" i="0" dirty="0">
                <a:effectLst/>
                <a:latin typeface="Georgia" panose="02040502050405020303" pitchFamily="18" charset="0"/>
              </a:rPr>
              <a:t>While both methods passed statistical randomness checks, their security implications are different. Quantum randomness is fundamentally unpredictable and cannot be reconstructed, making it ideal for high-security uses like cryptographic key generation. Classical RNG, though statistically random, can be reversed or predicted if the algorithm and seed are exposed, making it less secure for cryptography. This demonstrates that quantum RNG is better suited for applications where absolute unpredictability is critical.</a:t>
            </a:r>
            <a:endParaRPr lang="en-US" dirty="0">
              <a:latin typeface="Georgia" panose="02040502050405020303" pitchFamily="18" charset="0"/>
            </a:endParaRPr>
          </a:p>
        </p:txBody>
      </p:sp>
      <p:sp>
        <p:nvSpPr>
          <p:cNvPr id="11" name="Text 0">
            <a:extLst>
              <a:ext uri="{FF2B5EF4-FFF2-40B4-BE49-F238E27FC236}">
                <a16:creationId xmlns:a16="http://schemas.microsoft.com/office/drawing/2014/main" id="{17360BEB-2A69-2D62-16DB-B03D732A91FD}"/>
              </a:ext>
            </a:extLst>
          </p:cNvPr>
          <p:cNvSpPr/>
          <p:nvPr/>
        </p:nvSpPr>
        <p:spPr>
          <a:xfrm>
            <a:off x="3744194" y="245133"/>
            <a:ext cx="1795773" cy="411480"/>
          </a:xfrm>
          <a:prstGeom prst="rect">
            <a:avLst/>
          </a:prstGeom>
          <a:noFill/>
          <a:ln/>
        </p:spPr>
        <p:txBody>
          <a:bodyPr wrap="square" lIns="0" tIns="0" rIns="0" bIns="0" rtlCol="0" anchor="t"/>
          <a:lstStyle/>
          <a:p>
            <a:pPr marL="0" indent="0" algn="ctr">
              <a:lnSpc>
                <a:spcPts val="4320"/>
              </a:lnSpc>
              <a:buNone/>
            </a:pPr>
            <a:r>
              <a:rPr lang="en-US" sz="2700" b="1" dirty="0">
                <a:solidFill>
                  <a:srgbClr val="38BDF8"/>
                </a:solidFill>
                <a:latin typeface="Georgia" pitchFamily="34" charset="0"/>
                <a:ea typeface="Georgia" pitchFamily="34" charset="-122"/>
                <a:cs typeface="Georgia" pitchFamily="34" charset="-120"/>
              </a:rPr>
              <a:t>Results</a:t>
            </a:r>
            <a:endParaRPr lang="en-US" sz="2700" dirty="0"/>
          </a:p>
        </p:txBody>
      </p:sp>
    </p:spTree>
    <p:extLst>
      <p:ext uri="{BB962C8B-B14F-4D97-AF65-F5344CB8AC3E}">
        <p14:creationId xmlns:p14="http://schemas.microsoft.com/office/powerpoint/2010/main" val="3143018129"/>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2843</TotalTime>
  <Words>1112</Words>
  <Application>Microsoft Office PowerPoint</Application>
  <PresentationFormat>On-screen Show (16:9)</PresentationFormat>
  <Paragraphs>133</Paragraphs>
  <Slides>18</Slides>
  <Notes>18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Arial</vt:lpstr>
      <vt:lpstr>Calibri</vt:lpstr>
      <vt:lpstr>Calibri Light</vt:lpstr>
      <vt:lpstr>Cambria Math</vt:lpstr>
      <vt:lpstr>Courier New</vt:lpstr>
      <vt:lpstr>Georgia</vt:lpstr>
      <vt:lpstr>Verdana</vt:lpstr>
      <vt:lpstr>Office 2013 - 2022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Perplexity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Converted Presentation</dc:title>
  <dc:subject>PptxGenJS Presentation</dc:subject>
  <dc:creator>Perplexity</dc:creator>
  <cp:lastModifiedBy>Aditya Ranganathan Arun</cp:lastModifiedBy>
  <cp:revision>5</cp:revision>
  <dcterms:created xsi:type="dcterms:W3CDTF">2025-11-26T04:24:59Z</dcterms:created>
  <dcterms:modified xsi:type="dcterms:W3CDTF">2026-01-22T06:47:33Z</dcterms:modified>
</cp:coreProperties>
</file>